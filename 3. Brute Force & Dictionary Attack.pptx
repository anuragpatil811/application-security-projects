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9" r:id="rId4"/>
    <p:sldId id="262" r:id="rId5"/>
    <p:sldId id="258" r:id="rId6"/>
    <p:sldId id="260" r:id="rId7"/>
    <p:sldId id="261" r:id="rId8"/>
    <p:sldId id="263" r:id="rId9"/>
    <p:sldId id="265" r:id="rId10"/>
    <p:sldId id="264"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473" autoAdjust="0"/>
  </p:normalViewPr>
  <p:slideViewPr>
    <p:cSldViewPr snapToGrid="0">
      <p:cViewPr varScale="1">
        <p:scale>
          <a:sx n="74" d="100"/>
          <a:sy n="74" d="100"/>
        </p:scale>
        <p:origin x="101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736A94-DF2C-4E1A-848B-4D5087ECCA5E}" type="doc">
      <dgm:prSet loTypeId="urn:microsoft.com/office/officeart/2008/layout/VerticalCurvedList" loCatId="list" qsTypeId="urn:microsoft.com/office/officeart/2005/8/quickstyle/simple1" qsCatId="simple" csTypeId="urn:microsoft.com/office/officeart/2005/8/colors/accent1_1" csCatId="accent1"/>
      <dgm:spPr/>
      <dgm:t>
        <a:bodyPr/>
        <a:lstStyle/>
        <a:p>
          <a:endParaRPr lang="en-IN"/>
        </a:p>
      </dgm:t>
    </dgm:pt>
    <dgm:pt modelId="{D6C8FFE2-6F3A-44AD-8A7B-E45D6506C78E}">
      <dgm:prSet/>
      <dgm:spPr/>
      <dgm:t>
        <a:bodyPr/>
        <a:lstStyle/>
        <a:p>
          <a:r>
            <a:rPr lang="en-IN"/>
            <a:t>Simple Brute Force </a:t>
          </a:r>
        </a:p>
      </dgm:t>
    </dgm:pt>
    <dgm:pt modelId="{96AFE78E-BE1C-4622-9192-E8C7F77BBE4C}" type="parTrans" cxnId="{6464640F-CA02-4B4A-A51B-E3D6F1AE8A91}">
      <dgm:prSet/>
      <dgm:spPr/>
      <dgm:t>
        <a:bodyPr/>
        <a:lstStyle/>
        <a:p>
          <a:endParaRPr lang="en-IN"/>
        </a:p>
      </dgm:t>
    </dgm:pt>
    <dgm:pt modelId="{8BC2D4FE-1ACB-4CAF-A614-6F608DFA61CB}" type="sibTrans" cxnId="{6464640F-CA02-4B4A-A51B-E3D6F1AE8A91}">
      <dgm:prSet/>
      <dgm:spPr/>
      <dgm:t>
        <a:bodyPr/>
        <a:lstStyle/>
        <a:p>
          <a:endParaRPr lang="en-IN"/>
        </a:p>
      </dgm:t>
    </dgm:pt>
    <dgm:pt modelId="{63028930-6526-41BA-A975-45C5EE36DC7C}">
      <dgm:prSet/>
      <dgm:spPr/>
      <dgm:t>
        <a:bodyPr/>
        <a:lstStyle/>
        <a:p>
          <a:r>
            <a:rPr lang="en-IN"/>
            <a:t>Dictionary Attacks</a:t>
          </a:r>
        </a:p>
      </dgm:t>
    </dgm:pt>
    <dgm:pt modelId="{C4C00B1D-FB0F-4D28-9D47-FBE22435A3A9}" type="parTrans" cxnId="{4992605B-D5A1-4A57-BB67-C95DF687C898}">
      <dgm:prSet/>
      <dgm:spPr/>
      <dgm:t>
        <a:bodyPr/>
        <a:lstStyle/>
        <a:p>
          <a:endParaRPr lang="en-IN"/>
        </a:p>
      </dgm:t>
    </dgm:pt>
    <dgm:pt modelId="{1A4DFC30-1EE4-49EF-88F9-49FE5EE150B1}" type="sibTrans" cxnId="{4992605B-D5A1-4A57-BB67-C95DF687C898}">
      <dgm:prSet/>
      <dgm:spPr/>
      <dgm:t>
        <a:bodyPr/>
        <a:lstStyle/>
        <a:p>
          <a:endParaRPr lang="en-IN"/>
        </a:p>
      </dgm:t>
    </dgm:pt>
    <dgm:pt modelId="{C71FCB1A-EC90-4D9F-AABC-72DA3471C636}">
      <dgm:prSet/>
      <dgm:spPr/>
      <dgm:t>
        <a:bodyPr/>
        <a:lstStyle/>
        <a:p>
          <a:r>
            <a:rPr lang="en-IN"/>
            <a:t>Hybrid Brute Force</a:t>
          </a:r>
        </a:p>
      </dgm:t>
    </dgm:pt>
    <dgm:pt modelId="{4715CA58-7D57-4045-8829-68356AA78F40}" type="parTrans" cxnId="{498FE325-633B-485F-9754-B30BD7DC8119}">
      <dgm:prSet/>
      <dgm:spPr/>
      <dgm:t>
        <a:bodyPr/>
        <a:lstStyle/>
        <a:p>
          <a:endParaRPr lang="en-IN"/>
        </a:p>
      </dgm:t>
    </dgm:pt>
    <dgm:pt modelId="{CE972579-225B-4C3A-AB36-38FCA225FF26}" type="sibTrans" cxnId="{498FE325-633B-485F-9754-B30BD7DC8119}">
      <dgm:prSet/>
      <dgm:spPr/>
      <dgm:t>
        <a:bodyPr/>
        <a:lstStyle/>
        <a:p>
          <a:endParaRPr lang="en-IN"/>
        </a:p>
      </dgm:t>
    </dgm:pt>
    <dgm:pt modelId="{214779FC-D189-4130-9388-AB494A029C02}">
      <dgm:prSet/>
      <dgm:spPr/>
      <dgm:t>
        <a:bodyPr/>
        <a:lstStyle/>
        <a:p>
          <a:r>
            <a:rPr lang="en-IN"/>
            <a:t>Reverse Brute Force</a:t>
          </a:r>
        </a:p>
      </dgm:t>
    </dgm:pt>
    <dgm:pt modelId="{5ABAB6FB-B034-477F-8D58-729BFBD23F03}" type="parTrans" cxnId="{56502AEC-44A7-4F56-81F0-B61B04179B97}">
      <dgm:prSet/>
      <dgm:spPr/>
      <dgm:t>
        <a:bodyPr/>
        <a:lstStyle/>
        <a:p>
          <a:endParaRPr lang="en-IN"/>
        </a:p>
      </dgm:t>
    </dgm:pt>
    <dgm:pt modelId="{D9E0EDB0-EFA8-487C-B5A7-B28012124135}" type="sibTrans" cxnId="{56502AEC-44A7-4F56-81F0-B61B04179B97}">
      <dgm:prSet/>
      <dgm:spPr/>
      <dgm:t>
        <a:bodyPr/>
        <a:lstStyle/>
        <a:p>
          <a:endParaRPr lang="en-IN"/>
        </a:p>
      </dgm:t>
    </dgm:pt>
    <dgm:pt modelId="{BAF25D79-243E-4FAB-B301-175DF128BF45}">
      <dgm:prSet/>
      <dgm:spPr/>
      <dgm:t>
        <a:bodyPr/>
        <a:lstStyle/>
        <a:p>
          <a:r>
            <a:rPr lang="en-IN"/>
            <a:t>Credential Stuffing</a:t>
          </a:r>
        </a:p>
      </dgm:t>
    </dgm:pt>
    <dgm:pt modelId="{E2D5AB71-7A5D-45B4-9C3E-750E51417AAC}" type="parTrans" cxnId="{4F3BDD45-8BEB-4A06-A2B3-95608162C7FD}">
      <dgm:prSet/>
      <dgm:spPr/>
      <dgm:t>
        <a:bodyPr/>
        <a:lstStyle/>
        <a:p>
          <a:endParaRPr lang="en-IN"/>
        </a:p>
      </dgm:t>
    </dgm:pt>
    <dgm:pt modelId="{B654696C-416D-4AEF-B8AD-E5F5CC152FE5}" type="sibTrans" cxnId="{4F3BDD45-8BEB-4A06-A2B3-95608162C7FD}">
      <dgm:prSet/>
      <dgm:spPr/>
      <dgm:t>
        <a:bodyPr/>
        <a:lstStyle/>
        <a:p>
          <a:endParaRPr lang="en-IN"/>
        </a:p>
      </dgm:t>
    </dgm:pt>
    <dgm:pt modelId="{59617C52-E1C1-4DE7-B23E-E197D364B5C4}" type="pres">
      <dgm:prSet presAssocID="{DF736A94-DF2C-4E1A-848B-4D5087ECCA5E}" presName="Name0" presStyleCnt="0">
        <dgm:presLayoutVars>
          <dgm:chMax val="7"/>
          <dgm:chPref val="7"/>
          <dgm:dir/>
        </dgm:presLayoutVars>
      </dgm:prSet>
      <dgm:spPr/>
    </dgm:pt>
    <dgm:pt modelId="{C2342EE7-7153-4BFB-9200-787D299392FD}" type="pres">
      <dgm:prSet presAssocID="{DF736A94-DF2C-4E1A-848B-4D5087ECCA5E}" presName="Name1" presStyleCnt="0"/>
      <dgm:spPr/>
    </dgm:pt>
    <dgm:pt modelId="{6E1E0FD8-C2B7-4257-854B-C5B5B5163BC1}" type="pres">
      <dgm:prSet presAssocID="{DF736A94-DF2C-4E1A-848B-4D5087ECCA5E}" presName="cycle" presStyleCnt="0"/>
      <dgm:spPr/>
    </dgm:pt>
    <dgm:pt modelId="{133E6723-A259-481C-9737-E9A124154E54}" type="pres">
      <dgm:prSet presAssocID="{DF736A94-DF2C-4E1A-848B-4D5087ECCA5E}" presName="srcNode" presStyleLbl="node1" presStyleIdx="0" presStyleCnt="5"/>
      <dgm:spPr/>
    </dgm:pt>
    <dgm:pt modelId="{4BED9D23-4D09-4D8D-8251-32D958A5F026}" type="pres">
      <dgm:prSet presAssocID="{DF736A94-DF2C-4E1A-848B-4D5087ECCA5E}" presName="conn" presStyleLbl="parChTrans1D2" presStyleIdx="0" presStyleCnt="1"/>
      <dgm:spPr/>
    </dgm:pt>
    <dgm:pt modelId="{11D5AAF1-6C56-43BF-95F3-0C97106C0A1E}" type="pres">
      <dgm:prSet presAssocID="{DF736A94-DF2C-4E1A-848B-4D5087ECCA5E}" presName="extraNode" presStyleLbl="node1" presStyleIdx="0" presStyleCnt="5"/>
      <dgm:spPr/>
    </dgm:pt>
    <dgm:pt modelId="{30B3FB61-B74C-4800-81DC-F99446ED5614}" type="pres">
      <dgm:prSet presAssocID="{DF736A94-DF2C-4E1A-848B-4D5087ECCA5E}" presName="dstNode" presStyleLbl="node1" presStyleIdx="0" presStyleCnt="5"/>
      <dgm:spPr/>
    </dgm:pt>
    <dgm:pt modelId="{978F58C8-9FF7-4B21-80E4-42A1C5DCA88B}" type="pres">
      <dgm:prSet presAssocID="{D6C8FFE2-6F3A-44AD-8A7B-E45D6506C78E}" presName="text_1" presStyleLbl="node1" presStyleIdx="0" presStyleCnt="5">
        <dgm:presLayoutVars>
          <dgm:bulletEnabled val="1"/>
        </dgm:presLayoutVars>
      </dgm:prSet>
      <dgm:spPr/>
    </dgm:pt>
    <dgm:pt modelId="{338046DD-E119-4C34-A77D-988080225C43}" type="pres">
      <dgm:prSet presAssocID="{D6C8FFE2-6F3A-44AD-8A7B-E45D6506C78E}" presName="accent_1" presStyleCnt="0"/>
      <dgm:spPr/>
    </dgm:pt>
    <dgm:pt modelId="{5DB5DDB2-BF05-4A19-B9C2-76D84EF8E52D}" type="pres">
      <dgm:prSet presAssocID="{D6C8FFE2-6F3A-44AD-8A7B-E45D6506C78E}" presName="accentRepeatNode" presStyleLbl="solidFgAcc1" presStyleIdx="0" presStyleCnt="5"/>
      <dgm:spPr/>
    </dgm:pt>
    <dgm:pt modelId="{808F894F-3D4E-4167-B415-B46242D3D610}" type="pres">
      <dgm:prSet presAssocID="{63028930-6526-41BA-A975-45C5EE36DC7C}" presName="text_2" presStyleLbl="node1" presStyleIdx="1" presStyleCnt="5">
        <dgm:presLayoutVars>
          <dgm:bulletEnabled val="1"/>
        </dgm:presLayoutVars>
      </dgm:prSet>
      <dgm:spPr/>
    </dgm:pt>
    <dgm:pt modelId="{229AC66C-4A87-4DC8-8875-6F0E4436C2DC}" type="pres">
      <dgm:prSet presAssocID="{63028930-6526-41BA-A975-45C5EE36DC7C}" presName="accent_2" presStyleCnt="0"/>
      <dgm:spPr/>
    </dgm:pt>
    <dgm:pt modelId="{636DF3D6-F01B-4495-998E-09F5DFBE0F3E}" type="pres">
      <dgm:prSet presAssocID="{63028930-6526-41BA-A975-45C5EE36DC7C}" presName="accentRepeatNode" presStyleLbl="solidFgAcc1" presStyleIdx="1" presStyleCnt="5"/>
      <dgm:spPr/>
    </dgm:pt>
    <dgm:pt modelId="{B4BD975C-860C-4683-820C-861E536CCD6C}" type="pres">
      <dgm:prSet presAssocID="{C71FCB1A-EC90-4D9F-AABC-72DA3471C636}" presName="text_3" presStyleLbl="node1" presStyleIdx="2" presStyleCnt="5">
        <dgm:presLayoutVars>
          <dgm:bulletEnabled val="1"/>
        </dgm:presLayoutVars>
      </dgm:prSet>
      <dgm:spPr/>
    </dgm:pt>
    <dgm:pt modelId="{65008FE7-9F77-4A76-8DEE-63AB02D3C7BA}" type="pres">
      <dgm:prSet presAssocID="{C71FCB1A-EC90-4D9F-AABC-72DA3471C636}" presName="accent_3" presStyleCnt="0"/>
      <dgm:spPr/>
    </dgm:pt>
    <dgm:pt modelId="{86363255-0869-4838-8B54-082D451BE80F}" type="pres">
      <dgm:prSet presAssocID="{C71FCB1A-EC90-4D9F-AABC-72DA3471C636}" presName="accentRepeatNode" presStyleLbl="solidFgAcc1" presStyleIdx="2" presStyleCnt="5"/>
      <dgm:spPr/>
    </dgm:pt>
    <dgm:pt modelId="{3337210B-C568-4164-968F-118D1126A98E}" type="pres">
      <dgm:prSet presAssocID="{214779FC-D189-4130-9388-AB494A029C02}" presName="text_4" presStyleLbl="node1" presStyleIdx="3" presStyleCnt="5">
        <dgm:presLayoutVars>
          <dgm:bulletEnabled val="1"/>
        </dgm:presLayoutVars>
      </dgm:prSet>
      <dgm:spPr/>
    </dgm:pt>
    <dgm:pt modelId="{93A63128-834B-4284-9CF1-A18BF7326DC9}" type="pres">
      <dgm:prSet presAssocID="{214779FC-D189-4130-9388-AB494A029C02}" presName="accent_4" presStyleCnt="0"/>
      <dgm:spPr/>
    </dgm:pt>
    <dgm:pt modelId="{A19D61CD-AE94-424C-85C5-F32A6FBB7A1F}" type="pres">
      <dgm:prSet presAssocID="{214779FC-D189-4130-9388-AB494A029C02}" presName="accentRepeatNode" presStyleLbl="solidFgAcc1" presStyleIdx="3" presStyleCnt="5"/>
      <dgm:spPr/>
    </dgm:pt>
    <dgm:pt modelId="{F9A29A6B-BBC8-4423-AD0F-05BDA98D75E2}" type="pres">
      <dgm:prSet presAssocID="{BAF25D79-243E-4FAB-B301-175DF128BF45}" presName="text_5" presStyleLbl="node1" presStyleIdx="4" presStyleCnt="5">
        <dgm:presLayoutVars>
          <dgm:bulletEnabled val="1"/>
        </dgm:presLayoutVars>
      </dgm:prSet>
      <dgm:spPr/>
    </dgm:pt>
    <dgm:pt modelId="{40F833F4-9638-478B-988A-E179BF9BE9F3}" type="pres">
      <dgm:prSet presAssocID="{BAF25D79-243E-4FAB-B301-175DF128BF45}" presName="accent_5" presStyleCnt="0"/>
      <dgm:spPr/>
    </dgm:pt>
    <dgm:pt modelId="{008E461B-6DA6-437D-8F6A-2D1CB1D9A414}" type="pres">
      <dgm:prSet presAssocID="{BAF25D79-243E-4FAB-B301-175DF128BF45}" presName="accentRepeatNode" presStyleLbl="solidFgAcc1" presStyleIdx="4" presStyleCnt="5"/>
      <dgm:spPr/>
    </dgm:pt>
  </dgm:ptLst>
  <dgm:cxnLst>
    <dgm:cxn modelId="{EB72B603-66EB-4552-93DB-C4A8E4C30DBC}" type="presOf" srcId="{214779FC-D189-4130-9388-AB494A029C02}" destId="{3337210B-C568-4164-968F-118D1126A98E}" srcOrd="0" destOrd="0" presId="urn:microsoft.com/office/officeart/2008/layout/VerticalCurvedList"/>
    <dgm:cxn modelId="{CE04D809-8A3F-449A-8BC0-37813590A703}" type="presOf" srcId="{DF736A94-DF2C-4E1A-848B-4D5087ECCA5E}" destId="{59617C52-E1C1-4DE7-B23E-E197D364B5C4}" srcOrd="0" destOrd="0" presId="urn:microsoft.com/office/officeart/2008/layout/VerticalCurvedList"/>
    <dgm:cxn modelId="{6464640F-CA02-4B4A-A51B-E3D6F1AE8A91}" srcId="{DF736A94-DF2C-4E1A-848B-4D5087ECCA5E}" destId="{D6C8FFE2-6F3A-44AD-8A7B-E45D6506C78E}" srcOrd="0" destOrd="0" parTransId="{96AFE78E-BE1C-4622-9192-E8C7F77BBE4C}" sibTransId="{8BC2D4FE-1ACB-4CAF-A614-6F608DFA61CB}"/>
    <dgm:cxn modelId="{498FE325-633B-485F-9754-B30BD7DC8119}" srcId="{DF736A94-DF2C-4E1A-848B-4D5087ECCA5E}" destId="{C71FCB1A-EC90-4D9F-AABC-72DA3471C636}" srcOrd="2" destOrd="0" parTransId="{4715CA58-7D57-4045-8829-68356AA78F40}" sibTransId="{CE972579-225B-4C3A-AB36-38FCA225FF26}"/>
    <dgm:cxn modelId="{AF3EBE40-B6FA-4E71-8880-FD8084BA40D9}" type="presOf" srcId="{63028930-6526-41BA-A975-45C5EE36DC7C}" destId="{808F894F-3D4E-4167-B415-B46242D3D610}" srcOrd="0" destOrd="0" presId="urn:microsoft.com/office/officeart/2008/layout/VerticalCurvedList"/>
    <dgm:cxn modelId="{4992605B-D5A1-4A57-BB67-C95DF687C898}" srcId="{DF736A94-DF2C-4E1A-848B-4D5087ECCA5E}" destId="{63028930-6526-41BA-A975-45C5EE36DC7C}" srcOrd="1" destOrd="0" parTransId="{C4C00B1D-FB0F-4D28-9D47-FBE22435A3A9}" sibTransId="{1A4DFC30-1EE4-49EF-88F9-49FE5EE150B1}"/>
    <dgm:cxn modelId="{4F3BDD45-8BEB-4A06-A2B3-95608162C7FD}" srcId="{DF736A94-DF2C-4E1A-848B-4D5087ECCA5E}" destId="{BAF25D79-243E-4FAB-B301-175DF128BF45}" srcOrd="4" destOrd="0" parTransId="{E2D5AB71-7A5D-45B4-9C3E-750E51417AAC}" sibTransId="{B654696C-416D-4AEF-B8AD-E5F5CC152FE5}"/>
    <dgm:cxn modelId="{22DCE04A-D93F-4964-871E-D5554AC4DC05}" type="presOf" srcId="{C71FCB1A-EC90-4D9F-AABC-72DA3471C636}" destId="{B4BD975C-860C-4683-820C-861E536CCD6C}" srcOrd="0" destOrd="0" presId="urn:microsoft.com/office/officeart/2008/layout/VerticalCurvedList"/>
    <dgm:cxn modelId="{9B5AE070-11BC-4F5A-9B02-B60E1B42EB8C}" type="presOf" srcId="{BAF25D79-243E-4FAB-B301-175DF128BF45}" destId="{F9A29A6B-BBC8-4423-AD0F-05BDA98D75E2}" srcOrd="0" destOrd="0" presId="urn:microsoft.com/office/officeart/2008/layout/VerticalCurvedList"/>
    <dgm:cxn modelId="{69C46358-D8C8-4581-99AE-807A44C63A4C}" type="presOf" srcId="{8BC2D4FE-1ACB-4CAF-A614-6F608DFA61CB}" destId="{4BED9D23-4D09-4D8D-8251-32D958A5F026}" srcOrd="0" destOrd="0" presId="urn:microsoft.com/office/officeart/2008/layout/VerticalCurvedList"/>
    <dgm:cxn modelId="{1EAD4DB5-4B5B-45FC-B4C4-39CDECB0139A}" type="presOf" srcId="{D6C8FFE2-6F3A-44AD-8A7B-E45D6506C78E}" destId="{978F58C8-9FF7-4B21-80E4-42A1C5DCA88B}" srcOrd="0" destOrd="0" presId="urn:microsoft.com/office/officeart/2008/layout/VerticalCurvedList"/>
    <dgm:cxn modelId="{56502AEC-44A7-4F56-81F0-B61B04179B97}" srcId="{DF736A94-DF2C-4E1A-848B-4D5087ECCA5E}" destId="{214779FC-D189-4130-9388-AB494A029C02}" srcOrd="3" destOrd="0" parTransId="{5ABAB6FB-B034-477F-8D58-729BFBD23F03}" sibTransId="{D9E0EDB0-EFA8-487C-B5A7-B28012124135}"/>
    <dgm:cxn modelId="{CAADAF46-9E0F-4FE6-B374-89A6B21B3DD9}" type="presParOf" srcId="{59617C52-E1C1-4DE7-B23E-E197D364B5C4}" destId="{C2342EE7-7153-4BFB-9200-787D299392FD}" srcOrd="0" destOrd="0" presId="urn:microsoft.com/office/officeart/2008/layout/VerticalCurvedList"/>
    <dgm:cxn modelId="{15E3C390-AFE7-4878-A026-1C4C56547BBC}" type="presParOf" srcId="{C2342EE7-7153-4BFB-9200-787D299392FD}" destId="{6E1E0FD8-C2B7-4257-854B-C5B5B5163BC1}" srcOrd="0" destOrd="0" presId="urn:microsoft.com/office/officeart/2008/layout/VerticalCurvedList"/>
    <dgm:cxn modelId="{B9991FC2-571C-409C-8737-D425DD0EB1DF}" type="presParOf" srcId="{6E1E0FD8-C2B7-4257-854B-C5B5B5163BC1}" destId="{133E6723-A259-481C-9737-E9A124154E54}" srcOrd="0" destOrd="0" presId="urn:microsoft.com/office/officeart/2008/layout/VerticalCurvedList"/>
    <dgm:cxn modelId="{56675A39-B112-42F3-81F4-859B5847F7A0}" type="presParOf" srcId="{6E1E0FD8-C2B7-4257-854B-C5B5B5163BC1}" destId="{4BED9D23-4D09-4D8D-8251-32D958A5F026}" srcOrd="1" destOrd="0" presId="urn:microsoft.com/office/officeart/2008/layout/VerticalCurvedList"/>
    <dgm:cxn modelId="{8B1EB3FC-8B78-4546-8719-3AA44E211A06}" type="presParOf" srcId="{6E1E0FD8-C2B7-4257-854B-C5B5B5163BC1}" destId="{11D5AAF1-6C56-43BF-95F3-0C97106C0A1E}" srcOrd="2" destOrd="0" presId="urn:microsoft.com/office/officeart/2008/layout/VerticalCurvedList"/>
    <dgm:cxn modelId="{BCC8A306-3BDD-47FC-921B-E6CFBE807E9E}" type="presParOf" srcId="{6E1E0FD8-C2B7-4257-854B-C5B5B5163BC1}" destId="{30B3FB61-B74C-4800-81DC-F99446ED5614}" srcOrd="3" destOrd="0" presId="urn:microsoft.com/office/officeart/2008/layout/VerticalCurvedList"/>
    <dgm:cxn modelId="{868424FB-394C-4BB0-B6CD-2C66668AF8FE}" type="presParOf" srcId="{C2342EE7-7153-4BFB-9200-787D299392FD}" destId="{978F58C8-9FF7-4B21-80E4-42A1C5DCA88B}" srcOrd="1" destOrd="0" presId="urn:microsoft.com/office/officeart/2008/layout/VerticalCurvedList"/>
    <dgm:cxn modelId="{51D7DA98-4676-43C7-A5A0-768B45AADB33}" type="presParOf" srcId="{C2342EE7-7153-4BFB-9200-787D299392FD}" destId="{338046DD-E119-4C34-A77D-988080225C43}" srcOrd="2" destOrd="0" presId="urn:microsoft.com/office/officeart/2008/layout/VerticalCurvedList"/>
    <dgm:cxn modelId="{6CCEFC76-EFA4-41A3-A818-45AC167EDC08}" type="presParOf" srcId="{338046DD-E119-4C34-A77D-988080225C43}" destId="{5DB5DDB2-BF05-4A19-B9C2-76D84EF8E52D}" srcOrd="0" destOrd="0" presId="urn:microsoft.com/office/officeart/2008/layout/VerticalCurvedList"/>
    <dgm:cxn modelId="{37C91553-9A7C-4B73-B36B-F7900C7133C5}" type="presParOf" srcId="{C2342EE7-7153-4BFB-9200-787D299392FD}" destId="{808F894F-3D4E-4167-B415-B46242D3D610}" srcOrd="3" destOrd="0" presId="urn:microsoft.com/office/officeart/2008/layout/VerticalCurvedList"/>
    <dgm:cxn modelId="{88B35764-9B59-4433-B742-726EF5E89FD1}" type="presParOf" srcId="{C2342EE7-7153-4BFB-9200-787D299392FD}" destId="{229AC66C-4A87-4DC8-8875-6F0E4436C2DC}" srcOrd="4" destOrd="0" presId="urn:microsoft.com/office/officeart/2008/layout/VerticalCurvedList"/>
    <dgm:cxn modelId="{93D85253-8DCB-485F-9758-C67B533A4787}" type="presParOf" srcId="{229AC66C-4A87-4DC8-8875-6F0E4436C2DC}" destId="{636DF3D6-F01B-4495-998E-09F5DFBE0F3E}" srcOrd="0" destOrd="0" presId="urn:microsoft.com/office/officeart/2008/layout/VerticalCurvedList"/>
    <dgm:cxn modelId="{361A0533-8637-4BDA-8EF7-366DE088765B}" type="presParOf" srcId="{C2342EE7-7153-4BFB-9200-787D299392FD}" destId="{B4BD975C-860C-4683-820C-861E536CCD6C}" srcOrd="5" destOrd="0" presId="urn:microsoft.com/office/officeart/2008/layout/VerticalCurvedList"/>
    <dgm:cxn modelId="{4B94F569-8D3A-43EB-9E54-BD206E5C276E}" type="presParOf" srcId="{C2342EE7-7153-4BFB-9200-787D299392FD}" destId="{65008FE7-9F77-4A76-8DEE-63AB02D3C7BA}" srcOrd="6" destOrd="0" presId="urn:microsoft.com/office/officeart/2008/layout/VerticalCurvedList"/>
    <dgm:cxn modelId="{A1803D87-C926-43A4-A0B6-519D2AEC47DF}" type="presParOf" srcId="{65008FE7-9F77-4A76-8DEE-63AB02D3C7BA}" destId="{86363255-0869-4838-8B54-082D451BE80F}" srcOrd="0" destOrd="0" presId="urn:microsoft.com/office/officeart/2008/layout/VerticalCurvedList"/>
    <dgm:cxn modelId="{E42C57D5-9537-4885-B72F-E6D12BEE450D}" type="presParOf" srcId="{C2342EE7-7153-4BFB-9200-787D299392FD}" destId="{3337210B-C568-4164-968F-118D1126A98E}" srcOrd="7" destOrd="0" presId="urn:microsoft.com/office/officeart/2008/layout/VerticalCurvedList"/>
    <dgm:cxn modelId="{226D68A7-849E-4800-A887-D8513AB1B2BD}" type="presParOf" srcId="{C2342EE7-7153-4BFB-9200-787D299392FD}" destId="{93A63128-834B-4284-9CF1-A18BF7326DC9}" srcOrd="8" destOrd="0" presId="urn:microsoft.com/office/officeart/2008/layout/VerticalCurvedList"/>
    <dgm:cxn modelId="{9FED0C45-844B-43DD-9408-EF7E93D16DAC}" type="presParOf" srcId="{93A63128-834B-4284-9CF1-A18BF7326DC9}" destId="{A19D61CD-AE94-424C-85C5-F32A6FBB7A1F}" srcOrd="0" destOrd="0" presId="urn:microsoft.com/office/officeart/2008/layout/VerticalCurvedList"/>
    <dgm:cxn modelId="{E14C9013-7F02-4F86-A4ED-B7DD24C18145}" type="presParOf" srcId="{C2342EE7-7153-4BFB-9200-787D299392FD}" destId="{F9A29A6B-BBC8-4423-AD0F-05BDA98D75E2}" srcOrd="9" destOrd="0" presId="urn:microsoft.com/office/officeart/2008/layout/VerticalCurvedList"/>
    <dgm:cxn modelId="{B9CE09DF-97CD-4D1D-89F8-C5078FF9FECD}" type="presParOf" srcId="{C2342EE7-7153-4BFB-9200-787D299392FD}" destId="{40F833F4-9638-478B-988A-E179BF9BE9F3}" srcOrd="10" destOrd="0" presId="urn:microsoft.com/office/officeart/2008/layout/VerticalCurvedList"/>
    <dgm:cxn modelId="{78338A01-028B-42FE-B857-532F0D69970D}" type="presParOf" srcId="{40F833F4-9638-478B-988A-E179BF9BE9F3}" destId="{008E461B-6DA6-437D-8F6A-2D1CB1D9A414}"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00D11C-615A-49CD-B272-29E6027AF7A4}" type="doc">
      <dgm:prSet loTypeId="urn:microsoft.com/office/officeart/2005/8/layout/hierarchy4" loCatId="list" qsTypeId="urn:microsoft.com/office/officeart/2005/8/quickstyle/simple1" qsCatId="simple" csTypeId="urn:microsoft.com/office/officeart/2005/8/colors/accent1_1" csCatId="accent1" phldr="1"/>
      <dgm:spPr/>
      <dgm:t>
        <a:bodyPr/>
        <a:lstStyle/>
        <a:p>
          <a:endParaRPr lang="en-IN"/>
        </a:p>
      </dgm:t>
    </dgm:pt>
    <dgm:pt modelId="{8F271526-AEC4-4AEB-8E95-E78DB576C200}">
      <dgm:prSet/>
      <dgm:spPr/>
      <dgm:t>
        <a:bodyPr/>
        <a:lstStyle/>
        <a:p>
          <a:r>
            <a:rPr lang="en-US" b="1" dirty="0"/>
            <a:t>Delayed Response:</a:t>
          </a:r>
          <a:r>
            <a:rPr lang="en-US" dirty="0"/>
            <a:t> A slightly delayed response from the server prevents a hacker or spammer from checking multiple passwords within a short period of time.</a:t>
          </a:r>
          <a:endParaRPr lang="en-IN" dirty="0"/>
        </a:p>
      </dgm:t>
    </dgm:pt>
    <dgm:pt modelId="{3BC02C72-55E4-49E8-95C5-34A1B702E407}" type="parTrans" cxnId="{A61648EE-DCF8-4B51-92BE-25AD0B62F58F}">
      <dgm:prSet/>
      <dgm:spPr/>
      <dgm:t>
        <a:bodyPr/>
        <a:lstStyle/>
        <a:p>
          <a:endParaRPr lang="en-IN"/>
        </a:p>
      </dgm:t>
    </dgm:pt>
    <dgm:pt modelId="{FA24D7DE-D399-478B-AE50-F6BBDD891F09}" type="sibTrans" cxnId="{A61648EE-DCF8-4B51-92BE-25AD0B62F58F}">
      <dgm:prSet/>
      <dgm:spPr/>
      <dgm:t>
        <a:bodyPr/>
        <a:lstStyle/>
        <a:p>
          <a:endParaRPr lang="en-IN"/>
        </a:p>
      </dgm:t>
    </dgm:pt>
    <dgm:pt modelId="{198F0172-4605-4E3A-8493-02CBD4B2EA69}">
      <dgm:prSet/>
      <dgm:spPr/>
      <dgm:t>
        <a:bodyPr/>
        <a:lstStyle/>
        <a:p>
          <a:r>
            <a:rPr lang="en-US" b="1" dirty="0"/>
            <a:t>Account Locking:</a:t>
          </a:r>
          <a:r>
            <a:rPr lang="en-US" dirty="0"/>
            <a:t> Locking an account after several unsuccessful attempts for example, automatic locking after three or five unsuccessful attempts prevents a hacker or spammer from checking multiple passwords to log in.</a:t>
          </a:r>
          <a:endParaRPr lang="en-IN" dirty="0"/>
        </a:p>
      </dgm:t>
    </dgm:pt>
    <dgm:pt modelId="{492FE153-4C22-4450-A6B4-2936D12A508D}" type="parTrans" cxnId="{5DE70361-0CA4-4EDE-A42D-5AB8709F5043}">
      <dgm:prSet/>
      <dgm:spPr/>
      <dgm:t>
        <a:bodyPr/>
        <a:lstStyle/>
        <a:p>
          <a:endParaRPr lang="en-IN"/>
        </a:p>
      </dgm:t>
    </dgm:pt>
    <dgm:pt modelId="{62211444-AF3C-40E5-963E-1D04CB8257B9}" type="sibTrans" cxnId="{5DE70361-0CA4-4EDE-A42D-5AB8709F5043}">
      <dgm:prSet/>
      <dgm:spPr/>
      <dgm:t>
        <a:bodyPr/>
        <a:lstStyle/>
        <a:p>
          <a:endParaRPr lang="en-IN"/>
        </a:p>
      </dgm:t>
    </dgm:pt>
    <dgm:pt modelId="{E3A6D904-B2F5-4B26-84A6-DA1A7C669E25}" type="pres">
      <dgm:prSet presAssocID="{9600D11C-615A-49CD-B272-29E6027AF7A4}" presName="Name0" presStyleCnt="0">
        <dgm:presLayoutVars>
          <dgm:chPref val="1"/>
          <dgm:dir/>
          <dgm:animOne val="branch"/>
          <dgm:animLvl val="lvl"/>
          <dgm:resizeHandles/>
        </dgm:presLayoutVars>
      </dgm:prSet>
      <dgm:spPr/>
    </dgm:pt>
    <dgm:pt modelId="{B2E1973F-3656-43B0-9494-4AD9890A7FC2}" type="pres">
      <dgm:prSet presAssocID="{8F271526-AEC4-4AEB-8E95-E78DB576C200}" presName="vertOne" presStyleCnt="0"/>
      <dgm:spPr/>
    </dgm:pt>
    <dgm:pt modelId="{FE86B05C-DE67-41FF-BE4C-5E3430771098}" type="pres">
      <dgm:prSet presAssocID="{8F271526-AEC4-4AEB-8E95-E78DB576C200}" presName="txOne" presStyleLbl="node0" presStyleIdx="0" presStyleCnt="2">
        <dgm:presLayoutVars>
          <dgm:chPref val="3"/>
        </dgm:presLayoutVars>
      </dgm:prSet>
      <dgm:spPr/>
    </dgm:pt>
    <dgm:pt modelId="{933DF40A-7FD0-450D-8BAE-CB044E28E01F}" type="pres">
      <dgm:prSet presAssocID="{8F271526-AEC4-4AEB-8E95-E78DB576C200}" presName="horzOne" presStyleCnt="0"/>
      <dgm:spPr/>
    </dgm:pt>
    <dgm:pt modelId="{0D9FB7FD-529A-43F0-A7D6-6C10301FABF6}" type="pres">
      <dgm:prSet presAssocID="{FA24D7DE-D399-478B-AE50-F6BBDD891F09}" presName="sibSpaceOne" presStyleCnt="0"/>
      <dgm:spPr/>
    </dgm:pt>
    <dgm:pt modelId="{6C476433-410D-4EFD-820E-20F4280029F7}" type="pres">
      <dgm:prSet presAssocID="{198F0172-4605-4E3A-8493-02CBD4B2EA69}" presName="vertOne" presStyleCnt="0"/>
      <dgm:spPr/>
    </dgm:pt>
    <dgm:pt modelId="{33CBEE5D-5FB5-4A5F-BEAA-F7B2132195E5}" type="pres">
      <dgm:prSet presAssocID="{198F0172-4605-4E3A-8493-02CBD4B2EA69}" presName="txOne" presStyleLbl="node0" presStyleIdx="1" presStyleCnt="2">
        <dgm:presLayoutVars>
          <dgm:chPref val="3"/>
        </dgm:presLayoutVars>
      </dgm:prSet>
      <dgm:spPr/>
    </dgm:pt>
    <dgm:pt modelId="{CA173768-14C4-440D-AEDF-CAAAC079E27E}" type="pres">
      <dgm:prSet presAssocID="{198F0172-4605-4E3A-8493-02CBD4B2EA69}" presName="horzOne" presStyleCnt="0"/>
      <dgm:spPr/>
    </dgm:pt>
  </dgm:ptLst>
  <dgm:cxnLst>
    <dgm:cxn modelId="{4C371D1E-F1DF-40B1-BE31-72F8FC34EE02}" type="presOf" srcId="{198F0172-4605-4E3A-8493-02CBD4B2EA69}" destId="{33CBEE5D-5FB5-4A5F-BEAA-F7B2132195E5}" srcOrd="0" destOrd="0" presId="urn:microsoft.com/office/officeart/2005/8/layout/hierarchy4"/>
    <dgm:cxn modelId="{5DE70361-0CA4-4EDE-A42D-5AB8709F5043}" srcId="{9600D11C-615A-49CD-B272-29E6027AF7A4}" destId="{198F0172-4605-4E3A-8493-02CBD4B2EA69}" srcOrd="1" destOrd="0" parTransId="{492FE153-4C22-4450-A6B4-2936D12A508D}" sibTransId="{62211444-AF3C-40E5-963E-1D04CB8257B9}"/>
    <dgm:cxn modelId="{9CB76DC3-9CE6-4E54-B3AE-F84AB54017CF}" type="presOf" srcId="{8F271526-AEC4-4AEB-8E95-E78DB576C200}" destId="{FE86B05C-DE67-41FF-BE4C-5E3430771098}" srcOrd="0" destOrd="0" presId="urn:microsoft.com/office/officeart/2005/8/layout/hierarchy4"/>
    <dgm:cxn modelId="{A61648EE-DCF8-4B51-92BE-25AD0B62F58F}" srcId="{9600D11C-615A-49CD-B272-29E6027AF7A4}" destId="{8F271526-AEC4-4AEB-8E95-E78DB576C200}" srcOrd="0" destOrd="0" parTransId="{3BC02C72-55E4-49E8-95C5-34A1B702E407}" sibTransId="{FA24D7DE-D399-478B-AE50-F6BBDD891F09}"/>
    <dgm:cxn modelId="{F49116F9-E1BB-4DB1-A55B-247BCE012686}" type="presOf" srcId="{9600D11C-615A-49CD-B272-29E6027AF7A4}" destId="{E3A6D904-B2F5-4B26-84A6-DA1A7C669E25}" srcOrd="0" destOrd="0" presId="urn:microsoft.com/office/officeart/2005/8/layout/hierarchy4"/>
    <dgm:cxn modelId="{51B4A6BD-D750-4392-BC98-EF54BDF6DAF6}" type="presParOf" srcId="{E3A6D904-B2F5-4B26-84A6-DA1A7C669E25}" destId="{B2E1973F-3656-43B0-9494-4AD9890A7FC2}" srcOrd="0" destOrd="0" presId="urn:microsoft.com/office/officeart/2005/8/layout/hierarchy4"/>
    <dgm:cxn modelId="{2E502AE7-18F2-4405-9F58-853AC6B2EF5C}" type="presParOf" srcId="{B2E1973F-3656-43B0-9494-4AD9890A7FC2}" destId="{FE86B05C-DE67-41FF-BE4C-5E3430771098}" srcOrd="0" destOrd="0" presId="urn:microsoft.com/office/officeart/2005/8/layout/hierarchy4"/>
    <dgm:cxn modelId="{06880279-D624-460B-8FA1-4E1D0E4F8F86}" type="presParOf" srcId="{B2E1973F-3656-43B0-9494-4AD9890A7FC2}" destId="{933DF40A-7FD0-450D-8BAE-CB044E28E01F}" srcOrd="1" destOrd="0" presId="urn:microsoft.com/office/officeart/2005/8/layout/hierarchy4"/>
    <dgm:cxn modelId="{E5C2FE7A-9B18-4A1D-BC0F-1D99AC16D53B}" type="presParOf" srcId="{E3A6D904-B2F5-4B26-84A6-DA1A7C669E25}" destId="{0D9FB7FD-529A-43F0-A7D6-6C10301FABF6}" srcOrd="1" destOrd="0" presId="urn:microsoft.com/office/officeart/2005/8/layout/hierarchy4"/>
    <dgm:cxn modelId="{163830D9-5EC3-4026-9F2E-DD337FFECFB2}" type="presParOf" srcId="{E3A6D904-B2F5-4B26-84A6-DA1A7C669E25}" destId="{6C476433-410D-4EFD-820E-20F4280029F7}" srcOrd="2" destOrd="0" presId="urn:microsoft.com/office/officeart/2005/8/layout/hierarchy4"/>
    <dgm:cxn modelId="{8D6FF083-5F31-4651-ADA4-7C32D1D980A3}" type="presParOf" srcId="{6C476433-410D-4EFD-820E-20F4280029F7}" destId="{33CBEE5D-5FB5-4A5F-BEAA-F7B2132195E5}" srcOrd="0" destOrd="0" presId="urn:microsoft.com/office/officeart/2005/8/layout/hierarchy4"/>
    <dgm:cxn modelId="{7FA79B5C-255B-4807-81F2-3BEAF2394C5B}" type="presParOf" srcId="{6C476433-410D-4EFD-820E-20F4280029F7}" destId="{CA173768-14C4-440D-AEDF-CAAAC079E27E}"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ED9D23-4D09-4D8D-8251-32D958A5F026}">
      <dsp:nvSpPr>
        <dsp:cNvPr id="0" name=""/>
        <dsp:cNvSpPr/>
      </dsp:nvSpPr>
      <dsp:spPr>
        <a:xfrm>
          <a:off x="-5429507" y="-831376"/>
          <a:ext cx="6464939" cy="6464939"/>
        </a:xfrm>
        <a:prstGeom prst="blockArc">
          <a:avLst>
            <a:gd name="adj1" fmla="val 18900000"/>
            <a:gd name="adj2" fmla="val 2700000"/>
            <a:gd name="adj3" fmla="val 334"/>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8F58C8-9FF7-4B21-80E4-42A1C5DCA88B}">
      <dsp:nvSpPr>
        <dsp:cNvPr id="0" name=""/>
        <dsp:cNvSpPr/>
      </dsp:nvSpPr>
      <dsp:spPr>
        <a:xfrm>
          <a:off x="452751" y="300040"/>
          <a:ext cx="9996002" cy="600465"/>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619" tIns="78740" rIns="78740" bIns="78740" numCol="1" spcCol="1270" anchor="ctr" anchorCtr="0">
          <a:noAutofit/>
        </a:bodyPr>
        <a:lstStyle/>
        <a:p>
          <a:pPr marL="0" lvl="0" indent="0" algn="l" defTabSz="1377950">
            <a:lnSpc>
              <a:spcPct val="90000"/>
            </a:lnSpc>
            <a:spcBef>
              <a:spcPct val="0"/>
            </a:spcBef>
            <a:spcAft>
              <a:spcPct val="35000"/>
            </a:spcAft>
            <a:buNone/>
          </a:pPr>
          <a:r>
            <a:rPr lang="en-IN" sz="3100" kern="1200"/>
            <a:t>Simple Brute Force </a:t>
          </a:r>
        </a:p>
      </dsp:txBody>
      <dsp:txXfrm>
        <a:off x="452751" y="300040"/>
        <a:ext cx="9996002" cy="600465"/>
      </dsp:txXfrm>
    </dsp:sp>
    <dsp:sp modelId="{5DB5DDB2-BF05-4A19-B9C2-76D84EF8E52D}">
      <dsp:nvSpPr>
        <dsp:cNvPr id="0" name=""/>
        <dsp:cNvSpPr/>
      </dsp:nvSpPr>
      <dsp:spPr>
        <a:xfrm>
          <a:off x="77460" y="224982"/>
          <a:ext cx="750581" cy="750581"/>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8F894F-3D4E-4167-B415-B46242D3D610}">
      <dsp:nvSpPr>
        <dsp:cNvPr id="0" name=""/>
        <dsp:cNvSpPr/>
      </dsp:nvSpPr>
      <dsp:spPr>
        <a:xfrm>
          <a:off x="883027" y="1200450"/>
          <a:ext cx="9565726" cy="600465"/>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619" tIns="78740" rIns="78740" bIns="78740" numCol="1" spcCol="1270" anchor="ctr" anchorCtr="0">
          <a:noAutofit/>
        </a:bodyPr>
        <a:lstStyle/>
        <a:p>
          <a:pPr marL="0" lvl="0" indent="0" algn="l" defTabSz="1377950">
            <a:lnSpc>
              <a:spcPct val="90000"/>
            </a:lnSpc>
            <a:spcBef>
              <a:spcPct val="0"/>
            </a:spcBef>
            <a:spcAft>
              <a:spcPct val="35000"/>
            </a:spcAft>
            <a:buNone/>
          </a:pPr>
          <a:r>
            <a:rPr lang="en-IN" sz="3100" kern="1200"/>
            <a:t>Dictionary Attacks</a:t>
          </a:r>
        </a:p>
      </dsp:txBody>
      <dsp:txXfrm>
        <a:off x="883027" y="1200450"/>
        <a:ext cx="9565726" cy="600465"/>
      </dsp:txXfrm>
    </dsp:sp>
    <dsp:sp modelId="{636DF3D6-F01B-4495-998E-09F5DFBE0F3E}">
      <dsp:nvSpPr>
        <dsp:cNvPr id="0" name=""/>
        <dsp:cNvSpPr/>
      </dsp:nvSpPr>
      <dsp:spPr>
        <a:xfrm>
          <a:off x="507736" y="1125392"/>
          <a:ext cx="750581" cy="750581"/>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BD975C-860C-4683-820C-861E536CCD6C}">
      <dsp:nvSpPr>
        <dsp:cNvPr id="0" name=""/>
        <dsp:cNvSpPr/>
      </dsp:nvSpPr>
      <dsp:spPr>
        <a:xfrm>
          <a:off x="1015087" y="2100860"/>
          <a:ext cx="9433666" cy="600465"/>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619" tIns="78740" rIns="78740" bIns="78740" numCol="1" spcCol="1270" anchor="ctr" anchorCtr="0">
          <a:noAutofit/>
        </a:bodyPr>
        <a:lstStyle/>
        <a:p>
          <a:pPr marL="0" lvl="0" indent="0" algn="l" defTabSz="1377950">
            <a:lnSpc>
              <a:spcPct val="90000"/>
            </a:lnSpc>
            <a:spcBef>
              <a:spcPct val="0"/>
            </a:spcBef>
            <a:spcAft>
              <a:spcPct val="35000"/>
            </a:spcAft>
            <a:buNone/>
          </a:pPr>
          <a:r>
            <a:rPr lang="en-IN" sz="3100" kern="1200"/>
            <a:t>Hybrid Brute Force</a:t>
          </a:r>
        </a:p>
      </dsp:txBody>
      <dsp:txXfrm>
        <a:off x="1015087" y="2100860"/>
        <a:ext cx="9433666" cy="600465"/>
      </dsp:txXfrm>
    </dsp:sp>
    <dsp:sp modelId="{86363255-0869-4838-8B54-082D451BE80F}">
      <dsp:nvSpPr>
        <dsp:cNvPr id="0" name=""/>
        <dsp:cNvSpPr/>
      </dsp:nvSpPr>
      <dsp:spPr>
        <a:xfrm>
          <a:off x="639796" y="2025802"/>
          <a:ext cx="750581" cy="750581"/>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37210B-C568-4164-968F-118D1126A98E}">
      <dsp:nvSpPr>
        <dsp:cNvPr id="0" name=""/>
        <dsp:cNvSpPr/>
      </dsp:nvSpPr>
      <dsp:spPr>
        <a:xfrm>
          <a:off x="883027" y="3001270"/>
          <a:ext cx="9565726" cy="600465"/>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619" tIns="78740" rIns="78740" bIns="78740" numCol="1" spcCol="1270" anchor="ctr" anchorCtr="0">
          <a:noAutofit/>
        </a:bodyPr>
        <a:lstStyle/>
        <a:p>
          <a:pPr marL="0" lvl="0" indent="0" algn="l" defTabSz="1377950">
            <a:lnSpc>
              <a:spcPct val="90000"/>
            </a:lnSpc>
            <a:spcBef>
              <a:spcPct val="0"/>
            </a:spcBef>
            <a:spcAft>
              <a:spcPct val="35000"/>
            </a:spcAft>
            <a:buNone/>
          </a:pPr>
          <a:r>
            <a:rPr lang="en-IN" sz="3100" kern="1200"/>
            <a:t>Reverse Brute Force</a:t>
          </a:r>
        </a:p>
      </dsp:txBody>
      <dsp:txXfrm>
        <a:off x="883027" y="3001270"/>
        <a:ext cx="9565726" cy="600465"/>
      </dsp:txXfrm>
    </dsp:sp>
    <dsp:sp modelId="{A19D61CD-AE94-424C-85C5-F32A6FBB7A1F}">
      <dsp:nvSpPr>
        <dsp:cNvPr id="0" name=""/>
        <dsp:cNvSpPr/>
      </dsp:nvSpPr>
      <dsp:spPr>
        <a:xfrm>
          <a:off x="507736" y="2926212"/>
          <a:ext cx="750581" cy="750581"/>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9A29A6B-BBC8-4423-AD0F-05BDA98D75E2}">
      <dsp:nvSpPr>
        <dsp:cNvPr id="0" name=""/>
        <dsp:cNvSpPr/>
      </dsp:nvSpPr>
      <dsp:spPr>
        <a:xfrm>
          <a:off x="452751" y="3901680"/>
          <a:ext cx="9996002" cy="600465"/>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619" tIns="78740" rIns="78740" bIns="78740" numCol="1" spcCol="1270" anchor="ctr" anchorCtr="0">
          <a:noAutofit/>
        </a:bodyPr>
        <a:lstStyle/>
        <a:p>
          <a:pPr marL="0" lvl="0" indent="0" algn="l" defTabSz="1377950">
            <a:lnSpc>
              <a:spcPct val="90000"/>
            </a:lnSpc>
            <a:spcBef>
              <a:spcPct val="0"/>
            </a:spcBef>
            <a:spcAft>
              <a:spcPct val="35000"/>
            </a:spcAft>
            <a:buNone/>
          </a:pPr>
          <a:r>
            <a:rPr lang="en-IN" sz="3100" kern="1200"/>
            <a:t>Credential Stuffing</a:t>
          </a:r>
        </a:p>
      </dsp:txBody>
      <dsp:txXfrm>
        <a:off x="452751" y="3901680"/>
        <a:ext cx="9996002" cy="600465"/>
      </dsp:txXfrm>
    </dsp:sp>
    <dsp:sp modelId="{008E461B-6DA6-437D-8F6A-2D1CB1D9A414}">
      <dsp:nvSpPr>
        <dsp:cNvPr id="0" name=""/>
        <dsp:cNvSpPr/>
      </dsp:nvSpPr>
      <dsp:spPr>
        <a:xfrm>
          <a:off x="77460" y="3826622"/>
          <a:ext cx="750581" cy="750581"/>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86B05C-DE67-41FF-BE4C-5E3430771098}">
      <dsp:nvSpPr>
        <dsp:cNvPr id="0" name=""/>
        <dsp:cNvSpPr/>
      </dsp:nvSpPr>
      <dsp:spPr>
        <a:xfrm>
          <a:off x="3614" y="0"/>
          <a:ext cx="4847034" cy="4351338"/>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kern="1200" dirty="0"/>
            <a:t>Delayed Response:</a:t>
          </a:r>
          <a:r>
            <a:rPr lang="en-US" sz="2900" kern="1200" dirty="0"/>
            <a:t> A slightly delayed response from the server prevents a hacker or spammer from checking multiple passwords within a short period of time.</a:t>
          </a:r>
          <a:endParaRPr lang="en-IN" sz="2900" kern="1200" dirty="0"/>
        </a:p>
      </dsp:txBody>
      <dsp:txXfrm>
        <a:off x="131060" y="127446"/>
        <a:ext cx="4592142" cy="4096446"/>
      </dsp:txXfrm>
    </dsp:sp>
    <dsp:sp modelId="{33CBEE5D-5FB5-4A5F-BEAA-F7B2132195E5}">
      <dsp:nvSpPr>
        <dsp:cNvPr id="0" name=""/>
        <dsp:cNvSpPr/>
      </dsp:nvSpPr>
      <dsp:spPr>
        <a:xfrm>
          <a:off x="5664950" y="0"/>
          <a:ext cx="4847034" cy="4351338"/>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kern="1200" dirty="0"/>
            <a:t>Account Locking:</a:t>
          </a:r>
          <a:r>
            <a:rPr lang="en-US" sz="2900" kern="1200" dirty="0"/>
            <a:t> Locking an account after several unsuccessful attempts for example, automatic locking after three or five unsuccessful attempts prevents a hacker or spammer from checking multiple passwords to log in.</a:t>
          </a:r>
          <a:endParaRPr lang="en-IN" sz="2900" kern="1200" dirty="0"/>
        </a:p>
      </dsp:txBody>
      <dsp:txXfrm>
        <a:off x="5792396" y="127446"/>
        <a:ext cx="4592142" cy="4096446"/>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1BBA08-162F-459F-91AB-809D70405F85}" type="datetimeFigureOut">
              <a:rPr lang="en-IN" smtClean="0"/>
              <a:t>22-02-2024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62606B-74D0-456E-A853-080B32CC6EDD}" type="slidenum">
              <a:rPr lang="en-IN" smtClean="0"/>
              <a:t>‹#›</a:t>
            </a:fld>
            <a:endParaRPr lang="en-IN"/>
          </a:p>
        </p:txBody>
      </p:sp>
    </p:spTree>
    <p:extLst>
      <p:ext uri="{BB962C8B-B14F-4D97-AF65-F5344CB8AC3E}">
        <p14:creationId xmlns:p14="http://schemas.microsoft.com/office/powerpoint/2010/main" val="3491821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D4E56"/>
                </a:solidFill>
                <a:effectLst/>
                <a:latin typeface="Inter"/>
              </a:rPr>
              <a:t>A rainbow table attack is a form of cyberattack for cracking password hashes that uses a special table consisting of precomputed strings or commonly used passwords and corresponding hashes. A rainbow table attack works on passwords that are hashed — protected by using the hashing method.</a:t>
            </a:r>
          </a:p>
          <a:p>
            <a:r>
              <a:rPr lang="en-US" b="0" i="0" dirty="0">
                <a:solidFill>
                  <a:srgbClr val="FFFFFF"/>
                </a:solidFill>
                <a:effectLst/>
                <a:latin typeface="Nunito" pitchFamily="2" charset="0"/>
              </a:rPr>
              <a:t>Salt is a cryptographically secure random string that is added to a password before it’s hashed, and the salt should be stored with the hash, making it difficult for an attacker to know the original plaintext without having access to both sources.</a:t>
            </a:r>
            <a:endParaRPr lang="en-IN" dirty="0"/>
          </a:p>
        </p:txBody>
      </p:sp>
      <p:sp>
        <p:nvSpPr>
          <p:cNvPr id="4" name="Slide Number Placeholder 3"/>
          <p:cNvSpPr>
            <a:spLocks noGrp="1"/>
          </p:cNvSpPr>
          <p:nvPr>
            <p:ph type="sldNum" sz="quarter" idx="5"/>
          </p:nvPr>
        </p:nvSpPr>
        <p:spPr/>
        <p:txBody>
          <a:bodyPr/>
          <a:lstStyle/>
          <a:p>
            <a:fld id="{BF62606B-74D0-456E-A853-080B32CC6EDD}" type="slidenum">
              <a:rPr lang="en-IN" smtClean="0"/>
              <a:t>8</a:t>
            </a:fld>
            <a:endParaRPr lang="en-IN"/>
          </a:p>
        </p:txBody>
      </p:sp>
    </p:spTree>
    <p:extLst>
      <p:ext uri="{BB962C8B-B14F-4D97-AF65-F5344CB8AC3E}">
        <p14:creationId xmlns:p14="http://schemas.microsoft.com/office/powerpoint/2010/main" val="1881493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7F13F-E319-BD1C-7ABE-E0C297992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BE24E-3FBE-8EB6-2B47-819FA5CCB7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99F3F7-A82E-1863-B8CF-F515AE824C7A}"/>
              </a:ext>
            </a:extLst>
          </p:cNvPr>
          <p:cNvSpPr>
            <a:spLocks noGrp="1"/>
          </p:cNvSpPr>
          <p:nvPr>
            <p:ph type="body" idx="1"/>
          </p:nvPr>
        </p:nvSpPr>
        <p:spPr/>
        <p:txBody>
          <a:bodyPr/>
          <a:lstStyle/>
          <a:p>
            <a:r>
              <a:rPr lang="en-US" b="0" i="0" dirty="0">
                <a:solidFill>
                  <a:srgbClr val="4D4E56"/>
                </a:solidFill>
                <a:effectLst/>
                <a:latin typeface="Inter"/>
              </a:rPr>
              <a:t>A rainbow table attack is a form of cyberattack for cracking password hashes that uses a special table consisting of precomputed strings or commonly used passwords and corresponding hashes. A rainbow table attack works on passwords that are hashed — protected by using the hashing method.</a:t>
            </a:r>
          </a:p>
          <a:p>
            <a:r>
              <a:rPr lang="en-US" b="0" i="0" dirty="0">
                <a:solidFill>
                  <a:srgbClr val="FFFFFF"/>
                </a:solidFill>
                <a:effectLst/>
                <a:latin typeface="Nunito" pitchFamily="2" charset="0"/>
              </a:rPr>
              <a:t>Salt is a cryptographically secure random string that is added to a password before it’s hashed, and the salt should be stored with the hash, making it difficult for an attacker to know the original plaintext without having access to both sources.</a:t>
            </a:r>
            <a:endParaRPr lang="en-IN" dirty="0"/>
          </a:p>
        </p:txBody>
      </p:sp>
      <p:sp>
        <p:nvSpPr>
          <p:cNvPr id="4" name="Slide Number Placeholder 3">
            <a:extLst>
              <a:ext uri="{FF2B5EF4-FFF2-40B4-BE49-F238E27FC236}">
                <a16:creationId xmlns:a16="http://schemas.microsoft.com/office/drawing/2014/main" id="{8D88E506-8603-E499-6FA2-60A8992A29F9}"/>
              </a:ext>
            </a:extLst>
          </p:cNvPr>
          <p:cNvSpPr>
            <a:spLocks noGrp="1"/>
          </p:cNvSpPr>
          <p:nvPr>
            <p:ph type="sldNum" sz="quarter" idx="5"/>
          </p:nvPr>
        </p:nvSpPr>
        <p:spPr/>
        <p:txBody>
          <a:bodyPr/>
          <a:lstStyle/>
          <a:p>
            <a:fld id="{BF62606B-74D0-456E-A853-080B32CC6EDD}" type="slidenum">
              <a:rPr lang="en-IN" smtClean="0"/>
              <a:t>9</a:t>
            </a:fld>
            <a:endParaRPr lang="en-IN"/>
          </a:p>
        </p:txBody>
      </p:sp>
    </p:spTree>
    <p:extLst>
      <p:ext uri="{BB962C8B-B14F-4D97-AF65-F5344CB8AC3E}">
        <p14:creationId xmlns:p14="http://schemas.microsoft.com/office/powerpoint/2010/main" val="4108895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41E56-81FC-7C16-3AF6-6D88E5CB5C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2D15506-B9A3-B5D7-C18A-AB3CCEEB5C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32406CF-0398-BC9E-DB4B-C407B9514DB3}"/>
              </a:ext>
            </a:extLst>
          </p:cNvPr>
          <p:cNvSpPr>
            <a:spLocks noGrp="1"/>
          </p:cNvSpPr>
          <p:nvPr>
            <p:ph type="dt" sz="half" idx="10"/>
          </p:nvPr>
        </p:nvSpPr>
        <p:spPr/>
        <p:txBody>
          <a:bodyPr/>
          <a:lstStyle/>
          <a:p>
            <a:fld id="{761EB70F-FBF9-4C1A-A03E-278EFE96E663}" type="datetimeFigureOut">
              <a:rPr lang="en-IN" smtClean="0"/>
              <a:t>22-02-2024</a:t>
            </a:fld>
            <a:endParaRPr lang="en-IN"/>
          </a:p>
        </p:txBody>
      </p:sp>
      <p:sp>
        <p:nvSpPr>
          <p:cNvPr id="5" name="Footer Placeholder 4">
            <a:extLst>
              <a:ext uri="{FF2B5EF4-FFF2-40B4-BE49-F238E27FC236}">
                <a16:creationId xmlns:a16="http://schemas.microsoft.com/office/drawing/2014/main" id="{BE30B657-B798-B7F6-AF8C-076B03866E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638314-2F5E-B66A-BC26-36B92E886400}"/>
              </a:ext>
            </a:extLst>
          </p:cNvPr>
          <p:cNvSpPr>
            <a:spLocks noGrp="1"/>
          </p:cNvSpPr>
          <p:nvPr>
            <p:ph type="sldNum" sz="quarter" idx="12"/>
          </p:nvPr>
        </p:nvSpPr>
        <p:spPr/>
        <p:txBody>
          <a:bodyPr/>
          <a:lstStyle/>
          <a:p>
            <a:fld id="{21432DC7-181D-4977-8F43-2AFAB7EFC92B}" type="slidenum">
              <a:rPr lang="en-IN" smtClean="0"/>
              <a:t>‹#›</a:t>
            </a:fld>
            <a:endParaRPr lang="en-IN"/>
          </a:p>
        </p:txBody>
      </p:sp>
    </p:spTree>
    <p:extLst>
      <p:ext uri="{BB962C8B-B14F-4D97-AF65-F5344CB8AC3E}">
        <p14:creationId xmlns:p14="http://schemas.microsoft.com/office/powerpoint/2010/main" val="22686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075C4-7628-C018-DC58-297C7832A1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18B582-5C33-2313-26B3-5C399E0577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53C690-BC4C-F560-5FFE-07ABA2B55B37}"/>
              </a:ext>
            </a:extLst>
          </p:cNvPr>
          <p:cNvSpPr>
            <a:spLocks noGrp="1"/>
          </p:cNvSpPr>
          <p:nvPr>
            <p:ph type="dt" sz="half" idx="10"/>
          </p:nvPr>
        </p:nvSpPr>
        <p:spPr/>
        <p:txBody>
          <a:bodyPr/>
          <a:lstStyle/>
          <a:p>
            <a:fld id="{761EB70F-FBF9-4C1A-A03E-278EFE96E663}" type="datetimeFigureOut">
              <a:rPr lang="en-IN" smtClean="0"/>
              <a:t>22-02-2024</a:t>
            </a:fld>
            <a:endParaRPr lang="en-IN"/>
          </a:p>
        </p:txBody>
      </p:sp>
      <p:sp>
        <p:nvSpPr>
          <p:cNvPr id="5" name="Footer Placeholder 4">
            <a:extLst>
              <a:ext uri="{FF2B5EF4-FFF2-40B4-BE49-F238E27FC236}">
                <a16:creationId xmlns:a16="http://schemas.microsoft.com/office/drawing/2014/main" id="{E4474BB6-01A6-7E4B-B2B0-AAC2154D37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81FBEB-5767-5647-1BA3-DDE0E3312E38}"/>
              </a:ext>
            </a:extLst>
          </p:cNvPr>
          <p:cNvSpPr>
            <a:spLocks noGrp="1"/>
          </p:cNvSpPr>
          <p:nvPr>
            <p:ph type="sldNum" sz="quarter" idx="12"/>
          </p:nvPr>
        </p:nvSpPr>
        <p:spPr/>
        <p:txBody>
          <a:bodyPr/>
          <a:lstStyle/>
          <a:p>
            <a:fld id="{21432DC7-181D-4977-8F43-2AFAB7EFC92B}" type="slidenum">
              <a:rPr lang="en-IN" smtClean="0"/>
              <a:t>‹#›</a:t>
            </a:fld>
            <a:endParaRPr lang="en-IN"/>
          </a:p>
        </p:txBody>
      </p:sp>
    </p:spTree>
    <p:extLst>
      <p:ext uri="{BB962C8B-B14F-4D97-AF65-F5344CB8AC3E}">
        <p14:creationId xmlns:p14="http://schemas.microsoft.com/office/powerpoint/2010/main" val="1751291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E4480-A173-1CE3-1C32-93C95EAB87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5A3BEE-38D1-0B58-14A0-BDAA5DD76C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9FA1AE-1777-640C-F5D1-A97D4998C951}"/>
              </a:ext>
            </a:extLst>
          </p:cNvPr>
          <p:cNvSpPr>
            <a:spLocks noGrp="1"/>
          </p:cNvSpPr>
          <p:nvPr>
            <p:ph type="dt" sz="half" idx="10"/>
          </p:nvPr>
        </p:nvSpPr>
        <p:spPr/>
        <p:txBody>
          <a:bodyPr/>
          <a:lstStyle/>
          <a:p>
            <a:fld id="{761EB70F-FBF9-4C1A-A03E-278EFE96E663}" type="datetimeFigureOut">
              <a:rPr lang="en-IN" smtClean="0"/>
              <a:t>22-02-2024</a:t>
            </a:fld>
            <a:endParaRPr lang="en-IN"/>
          </a:p>
        </p:txBody>
      </p:sp>
      <p:sp>
        <p:nvSpPr>
          <p:cNvPr id="5" name="Footer Placeholder 4">
            <a:extLst>
              <a:ext uri="{FF2B5EF4-FFF2-40B4-BE49-F238E27FC236}">
                <a16:creationId xmlns:a16="http://schemas.microsoft.com/office/drawing/2014/main" id="{84028A8C-CC5D-6885-1A09-0D49877B9C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F4AB03-4D5C-89BB-C90C-0903E787C00A}"/>
              </a:ext>
            </a:extLst>
          </p:cNvPr>
          <p:cNvSpPr>
            <a:spLocks noGrp="1"/>
          </p:cNvSpPr>
          <p:nvPr>
            <p:ph type="sldNum" sz="quarter" idx="12"/>
          </p:nvPr>
        </p:nvSpPr>
        <p:spPr/>
        <p:txBody>
          <a:bodyPr/>
          <a:lstStyle/>
          <a:p>
            <a:fld id="{21432DC7-181D-4977-8F43-2AFAB7EFC92B}" type="slidenum">
              <a:rPr lang="en-IN" smtClean="0"/>
              <a:t>‹#›</a:t>
            </a:fld>
            <a:endParaRPr lang="en-IN"/>
          </a:p>
        </p:txBody>
      </p:sp>
    </p:spTree>
    <p:extLst>
      <p:ext uri="{BB962C8B-B14F-4D97-AF65-F5344CB8AC3E}">
        <p14:creationId xmlns:p14="http://schemas.microsoft.com/office/powerpoint/2010/main" val="965380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D5895-866A-58F2-22F4-2BF6D1A235E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E914FA-FC3F-CDEF-6FC9-84CDD30B11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62B58F1-D64A-E78E-EDAC-27DB9B02CE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80309F8-8DCB-5B14-7972-D7E671B9457C}"/>
              </a:ext>
            </a:extLst>
          </p:cNvPr>
          <p:cNvSpPr>
            <a:spLocks noGrp="1"/>
          </p:cNvSpPr>
          <p:nvPr>
            <p:ph type="dt" sz="half" idx="10"/>
          </p:nvPr>
        </p:nvSpPr>
        <p:spPr/>
        <p:txBody>
          <a:bodyPr/>
          <a:lstStyle/>
          <a:p>
            <a:fld id="{761EB70F-FBF9-4C1A-A03E-278EFE96E663}" type="datetimeFigureOut">
              <a:rPr lang="en-IN" smtClean="0"/>
              <a:t>22-02-2024</a:t>
            </a:fld>
            <a:endParaRPr lang="en-IN"/>
          </a:p>
        </p:txBody>
      </p:sp>
      <p:sp>
        <p:nvSpPr>
          <p:cNvPr id="6" name="Footer Placeholder 5">
            <a:extLst>
              <a:ext uri="{FF2B5EF4-FFF2-40B4-BE49-F238E27FC236}">
                <a16:creationId xmlns:a16="http://schemas.microsoft.com/office/drawing/2014/main" id="{52FF0F18-F385-7204-EB88-60E98D9A7E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9B36F4-DDB2-9A9B-DF25-6AA22BD86DF0}"/>
              </a:ext>
            </a:extLst>
          </p:cNvPr>
          <p:cNvSpPr>
            <a:spLocks noGrp="1"/>
          </p:cNvSpPr>
          <p:nvPr>
            <p:ph type="sldNum" sz="quarter" idx="12"/>
          </p:nvPr>
        </p:nvSpPr>
        <p:spPr/>
        <p:txBody>
          <a:bodyPr/>
          <a:lstStyle/>
          <a:p>
            <a:fld id="{21432DC7-181D-4977-8F43-2AFAB7EFC92B}" type="slidenum">
              <a:rPr lang="en-IN" smtClean="0"/>
              <a:t>‹#›</a:t>
            </a:fld>
            <a:endParaRPr lang="en-IN"/>
          </a:p>
        </p:txBody>
      </p:sp>
    </p:spTree>
    <p:extLst>
      <p:ext uri="{BB962C8B-B14F-4D97-AF65-F5344CB8AC3E}">
        <p14:creationId xmlns:p14="http://schemas.microsoft.com/office/powerpoint/2010/main" val="3383716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C87F6-DE98-CBAB-E966-5908426ACED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47E247-CBA6-B116-CA19-8F44E501F2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ADD079-DBE6-D0B3-EC88-213C74D5D4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E7EE5F-08F8-B4B7-FFCA-3C8D4047E5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6F7F7C-40DB-E0D3-0DA3-A4E85296E4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544A8C-FCC3-0B33-B821-6A1DE86A3D31}"/>
              </a:ext>
            </a:extLst>
          </p:cNvPr>
          <p:cNvSpPr>
            <a:spLocks noGrp="1"/>
          </p:cNvSpPr>
          <p:nvPr>
            <p:ph type="dt" sz="half" idx="10"/>
          </p:nvPr>
        </p:nvSpPr>
        <p:spPr/>
        <p:txBody>
          <a:bodyPr/>
          <a:lstStyle/>
          <a:p>
            <a:fld id="{761EB70F-FBF9-4C1A-A03E-278EFE96E663}" type="datetimeFigureOut">
              <a:rPr lang="en-IN" smtClean="0"/>
              <a:t>22-02-2024</a:t>
            </a:fld>
            <a:endParaRPr lang="en-IN"/>
          </a:p>
        </p:txBody>
      </p:sp>
      <p:sp>
        <p:nvSpPr>
          <p:cNvPr id="8" name="Footer Placeholder 7">
            <a:extLst>
              <a:ext uri="{FF2B5EF4-FFF2-40B4-BE49-F238E27FC236}">
                <a16:creationId xmlns:a16="http://schemas.microsoft.com/office/drawing/2014/main" id="{1C1DD159-2A8B-F516-8714-23E0AAD7DA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7818804-F5B3-6F56-9904-50B6949FDC69}"/>
              </a:ext>
            </a:extLst>
          </p:cNvPr>
          <p:cNvSpPr>
            <a:spLocks noGrp="1"/>
          </p:cNvSpPr>
          <p:nvPr>
            <p:ph type="sldNum" sz="quarter" idx="12"/>
          </p:nvPr>
        </p:nvSpPr>
        <p:spPr/>
        <p:txBody>
          <a:bodyPr/>
          <a:lstStyle/>
          <a:p>
            <a:fld id="{21432DC7-181D-4977-8F43-2AFAB7EFC92B}" type="slidenum">
              <a:rPr lang="en-IN" smtClean="0"/>
              <a:t>‹#›</a:t>
            </a:fld>
            <a:endParaRPr lang="en-IN"/>
          </a:p>
        </p:txBody>
      </p:sp>
    </p:spTree>
    <p:extLst>
      <p:ext uri="{BB962C8B-B14F-4D97-AF65-F5344CB8AC3E}">
        <p14:creationId xmlns:p14="http://schemas.microsoft.com/office/powerpoint/2010/main" val="2635284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CEB8B-428B-569F-CD2B-2C83EBE5A41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3618C81-5DE4-252B-96A4-2CEEAFAC2C85}"/>
              </a:ext>
            </a:extLst>
          </p:cNvPr>
          <p:cNvSpPr>
            <a:spLocks noGrp="1"/>
          </p:cNvSpPr>
          <p:nvPr>
            <p:ph type="dt" sz="half" idx="10"/>
          </p:nvPr>
        </p:nvSpPr>
        <p:spPr/>
        <p:txBody>
          <a:bodyPr/>
          <a:lstStyle/>
          <a:p>
            <a:fld id="{761EB70F-FBF9-4C1A-A03E-278EFE96E663}" type="datetimeFigureOut">
              <a:rPr lang="en-IN" smtClean="0"/>
              <a:t>22-02-2024</a:t>
            </a:fld>
            <a:endParaRPr lang="en-IN"/>
          </a:p>
        </p:txBody>
      </p:sp>
      <p:sp>
        <p:nvSpPr>
          <p:cNvPr id="4" name="Footer Placeholder 3">
            <a:extLst>
              <a:ext uri="{FF2B5EF4-FFF2-40B4-BE49-F238E27FC236}">
                <a16:creationId xmlns:a16="http://schemas.microsoft.com/office/drawing/2014/main" id="{6114D839-B6ED-6C98-57B0-8E2349A873B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387262-FEE1-81C3-1ADF-C5C4E73E47C5}"/>
              </a:ext>
            </a:extLst>
          </p:cNvPr>
          <p:cNvSpPr>
            <a:spLocks noGrp="1"/>
          </p:cNvSpPr>
          <p:nvPr>
            <p:ph type="sldNum" sz="quarter" idx="12"/>
          </p:nvPr>
        </p:nvSpPr>
        <p:spPr/>
        <p:txBody>
          <a:bodyPr/>
          <a:lstStyle/>
          <a:p>
            <a:fld id="{21432DC7-181D-4977-8F43-2AFAB7EFC92B}" type="slidenum">
              <a:rPr lang="en-IN" smtClean="0"/>
              <a:t>‹#›</a:t>
            </a:fld>
            <a:endParaRPr lang="en-IN"/>
          </a:p>
        </p:txBody>
      </p:sp>
    </p:spTree>
    <p:extLst>
      <p:ext uri="{BB962C8B-B14F-4D97-AF65-F5344CB8AC3E}">
        <p14:creationId xmlns:p14="http://schemas.microsoft.com/office/powerpoint/2010/main" val="3603908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2F56FA-DC0C-076B-0E5A-0C3FB113B56F}"/>
              </a:ext>
            </a:extLst>
          </p:cNvPr>
          <p:cNvSpPr>
            <a:spLocks noGrp="1"/>
          </p:cNvSpPr>
          <p:nvPr>
            <p:ph type="dt" sz="half" idx="10"/>
          </p:nvPr>
        </p:nvSpPr>
        <p:spPr/>
        <p:txBody>
          <a:bodyPr/>
          <a:lstStyle/>
          <a:p>
            <a:fld id="{761EB70F-FBF9-4C1A-A03E-278EFE96E663}" type="datetimeFigureOut">
              <a:rPr lang="en-IN" smtClean="0"/>
              <a:t>22-02-2024</a:t>
            </a:fld>
            <a:endParaRPr lang="en-IN"/>
          </a:p>
        </p:txBody>
      </p:sp>
      <p:sp>
        <p:nvSpPr>
          <p:cNvPr id="3" name="Footer Placeholder 2">
            <a:extLst>
              <a:ext uri="{FF2B5EF4-FFF2-40B4-BE49-F238E27FC236}">
                <a16:creationId xmlns:a16="http://schemas.microsoft.com/office/drawing/2014/main" id="{60261E48-7B01-3532-E183-5CF626C460A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5637CA-FD74-38E9-C904-94BBC4D7E78B}"/>
              </a:ext>
            </a:extLst>
          </p:cNvPr>
          <p:cNvSpPr>
            <a:spLocks noGrp="1"/>
          </p:cNvSpPr>
          <p:nvPr>
            <p:ph type="sldNum" sz="quarter" idx="12"/>
          </p:nvPr>
        </p:nvSpPr>
        <p:spPr/>
        <p:txBody>
          <a:bodyPr/>
          <a:lstStyle/>
          <a:p>
            <a:fld id="{21432DC7-181D-4977-8F43-2AFAB7EFC92B}" type="slidenum">
              <a:rPr lang="en-IN" smtClean="0"/>
              <a:t>‹#›</a:t>
            </a:fld>
            <a:endParaRPr lang="en-IN"/>
          </a:p>
        </p:txBody>
      </p:sp>
    </p:spTree>
    <p:extLst>
      <p:ext uri="{BB962C8B-B14F-4D97-AF65-F5344CB8AC3E}">
        <p14:creationId xmlns:p14="http://schemas.microsoft.com/office/powerpoint/2010/main" val="3826735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94331-928C-B352-9DAF-57305C5E99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D3D8146-919D-E5B1-8897-0FC0DE98B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9F7A715-5637-686F-6908-B130ACF0F5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6B4314-7785-4164-70E6-CB32A195D296}"/>
              </a:ext>
            </a:extLst>
          </p:cNvPr>
          <p:cNvSpPr>
            <a:spLocks noGrp="1"/>
          </p:cNvSpPr>
          <p:nvPr>
            <p:ph type="dt" sz="half" idx="10"/>
          </p:nvPr>
        </p:nvSpPr>
        <p:spPr/>
        <p:txBody>
          <a:bodyPr/>
          <a:lstStyle/>
          <a:p>
            <a:fld id="{761EB70F-FBF9-4C1A-A03E-278EFE96E663}" type="datetimeFigureOut">
              <a:rPr lang="en-IN" smtClean="0"/>
              <a:t>22-02-2024</a:t>
            </a:fld>
            <a:endParaRPr lang="en-IN"/>
          </a:p>
        </p:txBody>
      </p:sp>
      <p:sp>
        <p:nvSpPr>
          <p:cNvPr id="6" name="Footer Placeholder 5">
            <a:extLst>
              <a:ext uri="{FF2B5EF4-FFF2-40B4-BE49-F238E27FC236}">
                <a16:creationId xmlns:a16="http://schemas.microsoft.com/office/drawing/2014/main" id="{1601EA58-92B9-1BDC-D88A-A66257CF61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EE5D6C-8DEE-A8AF-D59D-D8FF1F34AA27}"/>
              </a:ext>
            </a:extLst>
          </p:cNvPr>
          <p:cNvSpPr>
            <a:spLocks noGrp="1"/>
          </p:cNvSpPr>
          <p:nvPr>
            <p:ph type="sldNum" sz="quarter" idx="12"/>
          </p:nvPr>
        </p:nvSpPr>
        <p:spPr/>
        <p:txBody>
          <a:bodyPr/>
          <a:lstStyle/>
          <a:p>
            <a:fld id="{21432DC7-181D-4977-8F43-2AFAB7EFC92B}" type="slidenum">
              <a:rPr lang="en-IN" smtClean="0"/>
              <a:t>‹#›</a:t>
            </a:fld>
            <a:endParaRPr lang="en-IN"/>
          </a:p>
        </p:txBody>
      </p:sp>
    </p:spTree>
    <p:extLst>
      <p:ext uri="{BB962C8B-B14F-4D97-AF65-F5344CB8AC3E}">
        <p14:creationId xmlns:p14="http://schemas.microsoft.com/office/powerpoint/2010/main" val="1922503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C3DE8-1FD3-9A33-BF75-C197DE8F5D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05A7374-F12C-0F8E-AE71-E74F0F5447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6C6FCA2-8EF0-2EAF-3A1D-CEC8C1A490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40A4B8-00AA-D3DE-1346-E4A71D8055DB}"/>
              </a:ext>
            </a:extLst>
          </p:cNvPr>
          <p:cNvSpPr>
            <a:spLocks noGrp="1"/>
          </p:cNvSpPr>
          <p:nvPr>
            <p:ph type="dt" sz="half" idx="10"/>
          </p:nvPr>
        </p:nvSpPr>
        <p:spPr/>
        <p:txBody>
          <a:bodyPr/>
          <a:lstStyle/>
          <a:p>
            <a:fld id="{761EB70F-FBF9-4C1A-A03E-278EFE96E663}" type="datetimeFigureOut">
              <a:rPr lang="en-IN" smtClean="0"/>
              <a:t>22-02-2024</a:t>
            </a:fld>
            <a:endParaRPr lang="en-IN"/>
          </a:p>
        </p:txBody>
      </p:sp>
      <p:sp>
        <p:nvSpPr>
          <p:cNvPr id="6" name="Footer Placeholder 5">
            <a:extLst>
              <a:ext uri="{FF2B5EF4-FFF2-40B4-BE49-F238E27FC236}">
                <a16:creationId xmlns:a16="http://schemas.microsoft.com/office/drawing/2014/main" id="{94091E3D-2B3A-AAD1-8F33-9A117B0FED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8837D5-0F93-6BDB-A664-C4088964C004}"/>
              </a:ext>
            </a:extLst>
          </p:cNvPr>
          <p:cNvSpPr>
            <a:spLocks noGrp="1"/>
          </p:cNvSpPr>
          <p:nvPr>
            <p:ph type="sldNum" sz="quarter" idx="12"/>
          </p:nvPr>
        </p:nvSpPr>
        <p:spPr/>
        <p:txBody>
          <a:bodyPr/>
          <a:lstStyle/>
          <a:p>
            <a:fld id="{21432DC7-181D-4977-8F43-2AFAB7EFC92B}" type="slidenum">
              <a:rPr lang="en-IN" smtClean="0"/>
              <a:t>‹#›</a:t>
            </a:fld>
            <a:endParaRPr lang="en-IN"/>
          </a:p>
        </p:txBody>
      </p:sp>
    </p:spTree>
    <p:extLst>
      <p:ext uri="{BB962C8B-B14F-4D97-AF65-F5344CB8AC3E}">
        <p14:creationId xmlns:p14="http://schemas.microsoft.com/office/powerpoint/2010/main" val="2725741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222A6-29B6-C0EE-3891-A8F46A064A5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A5C464-8DE9-81CB-A51A-93D7B47D92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49B6B4-7E11-FECD-F4A9-76296AEF524C}"/>
              </a:ext>
            </a:extLst>
          </p:cNvPr>
          <p:cNvSpPr>
            <a:spLocks noGrp="1"/>
          </p:cNvSpPr>
          <p:nvPr>
            <p:ph type="dt" sz="half" idx="10"/>
          </p:nvPr>
        </p:nvSpPr>
        <p:spPr/>
        <p:txBody>
          <a:bodyPr/>
          <a:lstStyle/>
          <a:p>
            <a:fld id="{761EB70F-FBF9-4C1A-A03E-278EFE96E663}" type="datetimeFigureOut">
              <a:rPr lang="en-IN" smtClean="0"/>
              <a:t>22-02-2024</a:t>
            </a:fld>
            <a:endParaRPr lang="en-IN"/>
          </a:p>
        </p:txBody>
      </p:sp>
      <p:sp>
        <p:nvSpPr>
          <p:cNvPr id="5" name="Footer Placeholder 4">
            <a:extLst>
              <a:ext uri="{FF2B5EF4-FFF2-40B4-BE49-F238E27FC236}">
                <a16:creationId xmlns:a16="http://schemas.microsoft.com/office/drawing/2014/main" id="{44F39D4A-01AA-33B5-F274-B91258AC92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C31DC3-E5C1-D544-903F-CED59ED59A4B}"/>
              </a:ext>
            </a:extLst>
          </p:cNvPr>
          <p:cNvSpPr>
            <a:spLocks noGrp="1"/>
          </p:cNvSpPr>
          <p:nvPr>
            <p:ph type="sldNum" sz="quarter" idx="12"/>
          </p:nvPr>
        </p:nvSpPr>
        <p:spPr/>
        <p:txBody>
          <a:bodyPr/>
          <a:lstStyle/>
          <a:p>
            <a:fld id="{21432DC7-181D-4977-8F43-2AFAB7EFC92B}" type="slidenum">
              <a:rPr lang="en-IN" smtClean="0"/>
              <a:t>‹#›</a:t>
            </a:fld>
            <a:endParaRPr lang="en-IN"/>
          </a:p>
        </p:txBody>
      </p:sp>
    </p:spTree>
    <p:extLst>
      <p:ext uri="{BB962C8B-B14F-4D97-AF65-F5344CB8AC3E}">
        <p14:creationId xmlns:p14="http://schemas.microsoft.com/office/powerpoint/2010/main" val="1111915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95AAFD-8D44-A4DE-B5F0-8FE858F3AD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34558F-4F81-3F99-F2DB-B86549FD58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F682A-AEF7-E692-2C30-692D69F04D8A}"/>
              </a:ext>
            </a:extLst>
          </p:cNvPr>
          <p:cNvSpPr>
            <a:spLocks noGrp="1"/>
          </p:cNvSpPr>
          <p:nvPr>
            <p:ph type="dt" sz="half" idx="10"/>
          </p:nvPr>
        </p:nvSpPr>
        <p:spPr/>
        <p:txBody>
          <a:bodyPr/>
          <a:lstStyle/>
          <a:p>
            <a:fld id="{761EB70F-FBF9-4C1A-A03E-278EFE96E663}" type="datetimeFigureOut">
              <a:rPr lang="en-IN" smtClean="0"/>
              <a:t>22-02-2024</a:t>
            </a:fld>
            <a:endParaRPr lang="en-IN"/>
          </a:p>
        </p:txBody>
      </p:sp>
      <p:sp>
        <p:nvSpPr>
          <p:cNvPr id="5" name="Footer Placeholder 4">
            <a:extLst>
              <a:ext uri="{FF2B5EF4-FFF2-40B4-BE49-F238E27FC236}">
                <a16:creationId xmlns:a16="http://schemas.microsoft.com/office/drawing/2014/main" id="{0415AB81-B99D-3A43-268D-9517197921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FE4812-1A97-492D-5AA0-B15F016E4338}"/>
              </a:ext>
            </a:extLst>
          </p:cNvPr>
          <p:cNvSpPr>
            <a:spLocks noGrp="1"/>
          </p:cNvSpPr>
          <p:nvPr>
            <p:ph type="sldNum" sz="quarter" idx="12"/>
          </p:nvPr>
        </p:nvSpPr>
        <p:spPr/>
        <p:txBody>
          <a:bodyPr/>
          <a:lstStyle/>
          <a:p>
            <a:fld id="{21432DC7-181D-4977-8F43-2AFAB7EFC92B}" type="slidenum">
              <a:rPr lang="en-IN" smtClean="0"/>
              <a:t>‹#›</a:t>
            </a:fld>
            <a:endParaRPr lang="en-IN"/>
          </a:p>
        </p:txBody>
      </p:sp>
    </p:spTree>
    <p:extLst>
      <p:ext uri="{BB962C8B-B14F-4D97-AF65-F5344CB8AC3E}">
        <p14:creationId xmlns:p14="http://schemas.microsoft.com/office/powerpoint/2010/main" val="475913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62F4DE-C499-4000-EA72-0499549C38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D166FA-65D7-9D49-F8F0-83C908CA64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014AF3-957D-DC69-CC46-2624E39EA8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1EB70F-FBF9-4C1A-A03E-278EFE96E663}" type="datetimeFigureOut">
              <a:rPr lang="en-IN" smtClean="0"/>
              <a:t>22-02-2024</a:t>
            </a:fld>
            <a:endParaRPr lang="en-IN"/>
          </a:p>
        </p:txBody>
      </p:sp>
      <p:sp>
        <p:nvSpPr>
          <p:cNvPr id="5" name="Footer Placeholder 4">
            <a:extLst>
              <a:ext uri="{FF2B5EF4-FFF2-40B4-BE49-F238E27FC236}">
                <a16:creationId xmlns:a16="http://schemas.microsoft.com/office/drawing/2014/main" id="{BECF56A8-4AE6-1AF9-2CB1-E978AB1CC5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588151E-9FEE-A815-A810-328AD513E8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432DC7-181D-4977-8F43-2AFAB7EFC92B}" type="slidenum">
              <a:rPr lang="en-IN" smtClean="0"/>
              <a:t>‹#›</a:t>
            </a:fld>
            <a:endParaRPr lang="en-IN"/>
          </a:p>
        </p:txBody>
      </p:sp>
    </p:spTree>
    <p:extLst>
      <p:ext uri="{BB962C8B-B14F-4D97-AF65-F5344CB8AC3E}">
        <p14:creationId xmlns:p14="http://schemas.microsoft.com/office/powerpoint/2010/main" val="1286048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4D6B6-D262-A5F4-C82C-2E996458CBDE}"/>
              </a:ext>
            </a:extLst>
          </p:cNvPr>
          <p:cNvSpPr>
            <a:spLocks noGrp="1"/>
          </p:cNvSpPr>
          <p:nvPr>
            <p:ph type="ctrTitle"/>
          </p:nvPr>
        </p:nvSpPr>
        <p:spPr/>
        <p:txBody>
          <a:bodyPr/>
          <a:lstStyle/>
          <a:p>
            <a:r>
              <a:rPr lang="en-IN" dirty="0"/>
              <a:t>Brute Force Attack</a:t>
            </a:r>
          </a:p>
        </p:txBody>
      </p:sp>
      <p:sp>
        <p:nvSpPr>
          <p:cNvPr id="3" name="Subtitle 2">
            <a:extLst>
              <a:ext uri="{FF2B5EF4-FFF2-40B4-BE49-F238E27FC236}">
                <a16:creationId xmlns:a16="http://schemas.microsoft.com/office/drawing/2014/main" id="{4D8AEFFA-0761-13D7-94E3-FBBA6ED9F8C6}"/>
              </a:ext>
            </a:extLst>
          </p:cNvPr>
          <p:cNvSpPr>
            <a:spLocks noGrp="1"/>
          </p:cNvSpPr>
          <p:nvPr>
            <p:ph type="subTitle" idx="1"/>
          </p:nvPr>
        </p:nvSpPr>
        <p:spPr/>
        <p:txBody>
          <a:bodyPr/>
          <a:lstStyle/>
          <a:p>
            <a:r>
              <a:rPr lang="en-IN" dirty="0"/>
              <a:t>Jalaj Limaye</a:t>
            </a:r>
          </a:p>
          <a:p>
            <a:r>
              <a:rPr lang="en-IN" dirty="0"/>
              <a:t>Assistant Professor</a:t>
            </a:r>
          </a:p>
          <a:p>
            <a:r>
              <a:rPr lang="en-IN" dirty="0"/>
              <a:t>Vishwakarma University</a:t>
            </a:r>
          </a:p>
        </p:txBody>
      </p:sp>
    </p:spTree>
    <p:extLst>
      <p:ext uri="{BB962C8B-B14F-4D97-AF65-F5344CB8AC3E}">
        <p14:creationId xmlns:p14="http://schemas.microsoft.com/office/powerpoint/2010/main" val="1923955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8DF18-DA2E-F1E0-8366-EA40F306E63A}"/>
              </a:ext>
            </a:extLst>
          </p:cNvPr>
          <p:cNvSpPr>
            <a:spLocks noGrp="1"/>
          </p:cNvSpPr>
          <p:nvPr>
            <p:ph type="title"/>
          </p:nvPr>
        </p:nvSpPr>
        <p:spPr/>
        <p:txBody>
          <a:bodyPr/>
          <a:lstStyle/>
          <a:p>
            <a:r>
              <a:rPr lang="en-IN" dirty="0"/>
              <a:t>Basics of Brute Force Attacks</a:t>
            </a:r>
          </a:p>
        </p:txBody>
      </p:sp>
      <p:sp>
        <p:nvSpPr>
          <p:cNvPr id="3" name="Content Placeholder 2">
            <a:extLst>
              <a:ext uri="{FF2B5EF4-FFF2-40B4-BE49-F238E27FC236}">
                <a16:creationId xmlns:a16="http://schemas.microsoft.com/office/drawing/2014/main" id="{74FF0A4E-B30D-6B6D-C02A-FE2601FCEA34}"/>
              </a:ext>
            </a:extLst>
          </p:cNvPr>
          <p:cNvSpPr>
            <a:spLocks noGrp="1"/>
          </p:cNvSpPr>
          <p:nvPr>
            <p:ph idx="1"/>
          </p:nvPr>
        </p:nvSpPr>
        <p:spPr/>
        <p:txBody>
          <a:bodyPr>
            <a:normAutofit/>
          </a:bodyPr>
          <a:lstStyle/>
          <a:p>
            <a:r>
              <a:rPr lang="en-US" dirty="0"/>
              <a:t>Brute force attack is a trial-and-error method to reveal secret data like passwords or PINs.</a:t>
            </a:r>
          </a:p>
          <a:p>
            <a:r>
              <a:rPr lang="en-US" dirty="0"/>
              <a:t>Automated software generates numerous guesses until desired data is obtained.</a:t>
            </a:r>
          </a:p>
          <a:p>
            <a:r>
              <a:rPr lang="en-US" dirty="0"/>
              <a:t>Used by security analysts to test network security, attackers employ it to crack encrypted data.</a:t>
            </a:r>
          </a:p>
          <a:p>
            <a:r>
              <a:rPr lang="en-US" dirty="0"/>
              <a:t>Types include dictionary attacks, trying common passwords or combinations of letters/numbers.</a:t>
            </a:r>
          </a:p>
          <a:p>
            <a:endParaRPr lang="en-US" dirty="0"/>
          </a:p>
        </p:txBody>
      </p:sp>
    </p:spTree>
    <p:extLst>
      <p:ext uri="{BB962C8B-B14F-4D97-AF65-F5344CB8AC3E}">
        <p14:creationId xmlns:p14="http://schemas.microsoft.com/office/powerpoint/2010/main" val="3485443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3DA9E-6B8A-46EF-B89D-752BBEEA8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351A7-116C-D7B4-5956-4ABDDDC8EA03}"/>
              </a:ext>
            </a:extLst>
          </p:cNvPr>
          <p:cNvSpPr>
            <a:spLocks noGrp="1"/>
          </p:cNvSpPr>
          <p:nvPr>
            <p:ph type="title"/>
          </p:nvPr>
        </p:nvSpPr>
        <p:spPr/>
        <p:txBody>
          <a:bodyPr/>
          <a:lstStyle/>
          <a:p>
            <a:r>
              <a:rPr lang="en-IN" dirty="0"/>
              <a:t>Basics of Brute Force Attacks</a:t>
            </a:r>
          </a:p>
        </p:txBody>
      </p:sp>
      <p:sp>
        <p:nvSpPr>
          <p:cNvPr id="3" name="Content Placeholder 2">
            <a:extLst>
              <a:ext uri="{FF2B5EF4-FFF2-40B4-BE49-F238E27FC236}">
                <a16:creationId xmlns:a16="http://schemas.microsoft.com/office/drawing/2014/main" id="{2EAA42D6-F276-8EBA-0821-4709D34474F1}"/>
              </a:ext>
            </a:extLst>
          </p:cNvPr>
          <p:cNvSpPr>
            <a:spLocks noGrp="1"/>
          </p:cNvSpPr>
          <p:nvPr>
            <p:ph idx="1"/>
          </p:nvPr>
        </p:nvSpPr>
        <p:spPr/>
        <p:txBody>
          <a:bodyPr>
            <a:normAutofit/>
          </a:bodyPr>
          <a:lstStyle/>
          <a:p>
            <a:r>
              <a:rPr lang="en-US" dirty="0"/>
              <a:t>Defenses against brute force attacks include requiring complex passwords, limiting login attempts, and temporary lockouts for failed attempts.</a:t>
            </a:r>
          </a:p>
          <a:p>
            <a:r>
              <a:rPr lang="en-US" dirty="0"/>
              <a:t>Any password can be cracked using brute force, with the complexity determining the attack's duration, influenced by computer speed.</a:t>
            </a:r>
          </a:p>
          <a:p>
            <a:r>
              <a:rPr lang="en-US" dirty="0"/>
              <a:t>These attacks are usually sent via GET and POST requests to the server. In regards to authentication, brute force attacks are often mounted when an account lockout policy in not in place.</a:t>
            </a:r>
            <a:endParaRPr lang="en-IN" dirty="0"/>
          </a:p>
        </p:txBody>
      </p:sp>
    </p:spTree>
    <p:extLst>
      <p:ext uri="{BB962C8B-B14F-4D97-AF65-F5344CB8AC3E}">
        <p14:creationId xmlns:p14="http://schemas.microsoft.com/office/powerpoint/2010/main" val="3957665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83E8C-8A41-DFBD-F51A-121D7043A879}"/>
              </a:ext>
            </a:extLst>
          </p:cNvPr>
          <p:cNvSpPr>
            <a:spLocks noGrp="1"/>
          </p:cNvSpPr>
          <p:nvPr>
            <p:ph type="title"/>
          </p:nvPr>
        </p:nvSpPr>
        <p:spPr/>
        <p:txBody>
          <a:bodyPr/>
          <a:lstStyle/>
          <a:p>
            <a:r>
              <a:rPr lang="en-US" dirty="0"/>
              <a:t>Types of Dictionary Attacks</a:t>
            </a:r>
          </a:p>
        </p:txBody>
      </p:sp>
      <p:graphicFrame>
        <p:nvGraphicFramePr>
          <p:cNvPr id="4" name="Content Placeholder 3">
            <a:extLst>
              <a:ext uri="{FF2B5EF4-FFF2-40B4-BE49-F238E27FC236}">
                <a16:creationId xmlns:a16="http://schemas.microsoft.com/office/drawing/2014/main" id="{51D50E2A-039B-5799-FF9E-9E1E242B8F47}"/>
              </a:ext>
            </a:extLst>
          </p:cNvPr>
          <p:cNvGraphicFramePr>
            <a:graphicFrameLocks noGrp="1"/>
          </p:cNvGraphicFramePr>
          <p:nvPr>
            <p:ph idx="1"/>
            <p:extLst>
              <p:ext uri="{D42A27DB-BD31-4B8C-83A1-F6EECF244321}">
                <p14:modId xmlns:p14="http://schemas.microsoft.com/office/powerpoint/2010/main" val="2438750751"/>
              </p:ext>
            </p:extLst>
          </p:nvPr>
        </p:nvGraphicFramePr>
        <p:xfrm>
          <a:off x="838200" y="1690687"/>
          <a:ext cx="10515599" cy="48021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1819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4C17B-4124-8F75-911C-1E719EB34E00}"/>
              </a:ext>
            </a:extLst>
          </p:cNvPr>
          <p:cNvSpPr>
            <a:spLocks noGrp="1"/>
          </p:cNvSpPr>
          <p:nvPr>
            <p:ph type="title"/>
          </p:nvPr>
        </p:nvSpPr>
        <p:spPr/>
        <p:txBody>
          <a:bodyPr/>
          <a:lstStyle/>
          <a:p>
            <a:r>
              <a:rPr lang="en-IN" dirty="0"/>
              <a:t>Protection from Brute Force Attacks</a:t>
            </a:r>
          </a:p>
        </p:txBody>
      </p:sp>
      <p:sp>
        <p:nvSpPr>
          <p:cNvPr id="3" name="Content Placeholder 2">
            <a:extLst>
              <a:ext uri="{FF2B5EF4-FFF2-40B4-BE49-F238E27FC236}">
                <a16:creationId xmlns:a16="http://schemas.microsoft.com/office/drawing/2014/main" id="{7960683E-76D4-CE24-AC88-47EABD318933}"/>
              </a:ext>
            </a:extLst>
          </p:cNvPr>
          <p:cNvSpPr>
            <a:spLocks noGrp="1"/>
          </p:cNvSpPr>
          <p:nvPr>
            <p:ph idx="1"/>
          </p:nvPr>
        </p:nvSpPr>
        <p:spPr/>
        <p:txBody>
          <a:bodyPr>
            <a:normAutofit/>
          </a:bodyPr>
          <a:lstStyle/>
          <a:p>
            <a:r>
              <a:rPr lang="en-US" dirty="0"/>
              <a:t>In order to protect from brute force attack vulnerability, it is essential to create application security robust by allowing the entry of username and password for not more than a specific time, usually three and may even be five. </a:t>
            </a:r>
          </a:p>
          <a:p>
            <a:r>
              <a:rPr lang="en-US" dirty="0"/>
              <a:t>Also, if the number of attempt exceeds the allowed limit then the software developer can create code to lock the user from entry into the system or prevent future attempts for a specified set of time. </a:t>
            </a:r>
          </a:p>
          <a:p>
            <a:r>
              <a:rPr lang="en-US" dirty="0"/>
              <a:t>This will help the application to protect against manual or automated brute force attacks.</a:t>
            </a:r>
            <a:endParaRPr lang="en-IN" dirty="0"/>
          </a:p>
        </p:txBody>
      </p:sp>
    </p:spTree>
    <p:extLst>
      <p:ext uri="{BB962C8B-B14F-4D97-AF65-F5344CB8AC3E}">
        <p14:creationId xmlns:p14="http://schemas.microsoft.com/office/powerpoint/2010/main" val="2603716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3C4BD1-09EC-2428-C908-01F2BFE0C81B}"/>
              </a:ext>
            </a:extLst>
          </p:cNvPr>
          <p:cNvSpPr>
            <a:spLocks noGrp="1"/>
          </p:cNvSpPr>
          <p:nvPr>
            <p:ph type="title"/>
          </p:nvPr>
        </p:nvSpPr>
        <p:spPr/>
        <p:txBody>
          <a:bodyPr/>
          <a:lstStyle/>
          <a:p>
            <a:r>
              <a:rPr lang="en-IN" dirty="0"/>
              <a:t>Dictionary Attacks</a:t>
            </a:r>
          </a:p>
        </p:txBody>
      </p:sp>
      <p:sp>
        <p:nvSpPr>
          <p:cNvPr id="5" name="Text Placeholder 4">
            <a:extLst>
              <a:ext uri="{FF2B5EF4-FFF2-40B4-BE49-F238E27FC236}">
                <a16:creationId xmlns:a16="http://schemas.microsoft.com/office/drawing/2014/main" id="{508EEFFB-2C3B-C1C3-61DA-881B9E668C41}"/>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613804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B189FA-8F67-1F7E-26CC-FB04CEC2C9D9}"/>
              </a:ext>
            </a:extLst>
          </p:cNvPr>
          <p:cNvSpPr>
            <a:spLocks noGrp="1"/>
          </p:cNvSpPr>
          <p:nvPr>
            <p:ph type="title"/>
          </p:nvPr>
        </p:nvSpPr>
        <p:spPr/>
        <p:txBody>
          <a:bodyPr/>
          <a:lstStyle/>
          <a:p>
            <a:r>
              <a:rPr lang="en-IN" dirty="0"/>
              <a:t>Dictionary Attacks</a:t>
            </a:r>
          </a:p>
        </p:txBody>
      </p:sp>
      <p:sp>
        <p:nvSpPr>
          <p:cNvPr id="5" name="Content Placeholder 4">
            <a:extLst>
              <a:ext uri="{FF2B5EF4-FFF2-40B4-BE49-F238E27FC236}">
                <a16:creationId xmlns:a16="http://schemas.microsoft.com/office/drawing/2014/main" id="{67BFD873-C5F3-8A0C-ECDD-7E2B7D05BE3B}"/>
              </a:ext>
            </a:extLst>
          </p:cNvPr>
          <p:cNvSpPr>
            <a:spLocks noGrp="1"/>
          </p:cNvSpPr>
          <p:nvPr>
            <p:ph idx="1"/>
          </p:nvPr>
        </p:nvSpPr>
        <p:spPr/>
        <p:txBody>
          <a:bodyPr>
            <a:normAutofit lnSpcReduction="10000"/>
          </a:bodyPr>
          <a:lstStyle/>
          <a:p>
            <a:r>
              <a:rPr lang="en-US" dirty="0"/>
              <a:t>Dictionary attack breaches computer security by systematically trying each word in a dictionary as a password.</a:t>
            </a:r>
          </a:p>
          <a:p>
            <a:r>
              <a:rPr lang="en-US" dirty="0"/>
              <a:t>Successful because many users use common words as passwords for convenience.</a:t>
            </a:r>
          </a:p>
          <a:p>
            <a:r>
              <a:rPr lang="en-US" dirty="0"/>
              <a:t>Authentication via passwords remains prevalent despite its weaknesses.</a:t>
            </a:r>
          </a:p>
          <a:p>
            <a:r>
              <a:rPr lang="en-US" dirty="0"/>
              <a:t>Hackers exploit this weakness by attempting all possible passwords until the correct one is found.</a:t>
            </a:r>
          </a:p>
          <a:p>
            <a:r>
              <a:rPr lang="en-US" dirty="0"/>
              <a:t>Users should avoid using common words as passwords to mitigate the risk of dictionary attacks.</a:t>
            </a:r>
            <a:endParaRPr lang="en-IN" dirty="0"/>
          </a:p>
        </p:txBody>
      </p:sp>
    </p:spTree>
    <p:extLst>
      <p:ext uri="{BB962C8B-B14F-4D97-AF65-F5344CB8AC3E}">
        <p14:creationId xmlns:p14="http://schemas.microsoft.com/office/powerpoint/2010/main" val="731681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94F4-D26E-99CC-31BE-7D13F1DBA9CA}"/>
              </a:ext>
            </a:extLst>
          </p:cNvPr>
          <p:cNvSpPr>
            <a:spLocks noGrp="1"/>
          </p:cNvSpPr>
          <p:nvPr>
            <p:ph type="title"/>
          </p:nvPr>
        </p:nvSpPr>
        <p:spPr/>
        <p:txBody>
          <a:bodyPr/>
          <a:lstStyle/>
          <a:p>
            <a:r>
              <a:rPr lang="en-IN" dirty="0"/>
              <a:t>Dictionary Attacks</a:t>
            </a:r>
          </a:p>
        </p:txBody>
      </p:sp>
      <p:sp>
        <p:nvSpPr>
          <p:cNvPr id="5" name="Content Placeholder 4">
            <a:extLst>
              <a:ext uri="{FF2B5EF4-FFF2-40B4-BE49-F238E27FC236}">
                <a16:creationId xmlns:a16="http://schemas.microsoft.com/office/drawing/2014/main" id="{DF6C4C23-8F1C-3227-8F0E-693820D1107F}"/>
              </a:ext>
            </a:extLst>
          </p:cNvPr>
          <p:cNvSpPr>
            <a:spLocks noGrp="1"/>
          </p:cNvSpPr>
          <p:nvPr>
            <p:ph idx="1"/>
          </p:nvPr>
        </p:nvSpPr>
        <p:spPr/>
        <p:txBody>
          <a:bodyPr>
            <a:normAutofit fontScale="92500" lnSpcReduction="10000"/>
          </a:bodyPr>
          <a:lstStyle/>
          <a:p>
            <a:pPr lvl="0"/>
            <a:r>
              <a:rPr lang="en-US"/>
              <a:t>Pre-calculated hashes of dictionary words stored in a database decrease the execution time of a dictionary attack, offering time-space trade-offs for attackers.</a:t>
            </a:r>
            <a:endParaRPr lang="en-IN"/>
          </a:p>
          <a:p>
            <a:pPr lvl="0"/>
            <a:r>
              <a:rPr lang="en-US"/>
              <a:t>Rainbow table attacks, using pre-computed hash values, provide faster cracking but require more lookup time.</a:t>
            </a:r>
            <a:endParaRPr lang="en-IN"/>
          </a:p>
          <a:p>
            <a:pPr lvl="1"/>
            <a:r>
              <a:rPr lang="en-US"/>
              <a:t>A rainbow table attack is a form of cyberattack for cracking password hashes that uses a special table consisting of precomputed strings or commonly used passwords and corresponding hashes. </a:t>
            </a:r>
            <a:endParaRPr lang="en-IN"/>
          </a:p>
          <a:p>
            <a:pPr lvl="0"/>
            <a:r>
              <a:rPr lang="en-US"/>
              <a:t>Employing salt in hashes can thwart rainbow table attacks.</a:t>
            </a:r>
            <a:endParaRPr lang="en-IN"/>
          </a:p>
          <a:p>
            <a:pPr lvl="1"/>
            <a:r>
              <a:rPr lang="en-US"/>
              <a:t>Salt is a cryptographically secure random string that is added to a password before it’s hashed, and the salt should be stored with the hash, making it difficult for an attacker to know the original plaintext without having access to both sources</a:t>
            </a:r>
            <a:endParaRPr lang="en-IN"/>
          </a:p>
        </p:txBody>
      </p:sp>
    </p:spTree>
    <p:extLst>
      <p:ext uri="{BB962C8B-B14F-4D97-AF65-F5344CB8AC3E}">
        <p14:creationId xmlns:p14="http://schemas.microsoft.com/office/powerpoint/2010/main" val="848790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D3D6B-DC48-B4A2-6E24-B8A84A34B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AE8A5-320C-33B1-F6F3-15976D841018}"/>
              </a:ext>
            </a:extLst>
          </p:cNvPr>
          <p:cNvSpPr>
            <a:spLocks noGrp="1"/>
          </p:cNvSpPr>
          <p:nvPr>
            <p:ph type="title"/>
          </p:nvPr>
        </p:nvSpPr>
        <p:spPr/>
        <p:txBody>
          <a:bodyPr/>
          <a:lstStyle/>
          <a:p>
            <a:r>
              <a:rPr lang="en-IN" dirty="0"/>
              <a:t>Dictionary Attacks</a:t>
            </a:r>
          </a:p>
        </p:txBody>
      </p:sp>
      <p:sp>
        <p:nvSpPr>
          <p:cNvPr id="3" name="Content Placeholder 2">
            <a:extLst>
              <a:ext uri="{FF2B5EF4-FFF2-40B4-BE49-F238E27FC236}">
                <a16:creationId xmlns:a16="http://schemas.microsoft.com/office/drawing/2014/main" id="{73E34D73-CDDA-05EC-F8E7-8B973023EE32}"/>
              </a:ext>
            </a:extLst>
          </p:cNvPr>
          <p:cNvSpPr>
            <a:spLocks noGrp="1"/>
          </p:cNvSpPr>
          <p:nvPr>
            <p:ph idx="1"/>
          </p:nvPr>
        </p:nvSpPr>
        <p:spPr/>
        <p:txBody>
          <a:bodyPr>
            <a:normAutofit/>
          </a:bodyPr>
          <a:lstStyle/>
          <a:p>
            <a:r>
              <a:rPr lang="en-US"/>
              <a:t>Dictionary </a:t>
            </a:r>
            <a:r>
              <a:rPr lang="en-US" dirty="0"/>
              <a:t>attacks may also target encryption keys, but systems using random combinations of characters and numerals are more resilient.</a:t>
            </a:r>
          </a:p>
          <a:p>
            <a:r>
              <a:rPr lang="en-US" dirty="0"/>
              <a:t>Limiting the number of login attempts within a time period and using complex passwords or keys can greatly reduce vulnerability to dictionary and brute-force attacks.</a:t>
            </a:r>
          </a:p>
          <a:p>
            <a:r>
              <a:rPr lang="en-US" dirty="0"/>
              <a:t>Spammers may employ a form of dictionary attack by sending messages to email addresses with common words or names followed by domain names.</a:t>
            </a:r>
            <a:endParaRPr lang="en-IN" dirty="0"/>
          </a:p>
        </p:txBody>
      </p:sp>
    </p:spTree>
    <p:extLst>
      <p:ext uri="{BB962C8B-B14F-4D97-AF65-F5344CB8AC3E}">
        <p14:creationId xmlns:p14="http://schemas.microsoft.com/office/powerpoint/2010/main" val="311136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4705A-91CD-3C51-96FC-8D1F70272A60}"/>
              </a:ext>
            </a:extLst>
          </p:cNvPr>
          <p:cNvSpPr>
            <a:spLocks noGrp="1"/>
          </p:cNvSpPr>
          <p:nvPr>
            <p:ph type="title"/>
          </p:nvPr>
        </p:nvSpPr>
        <p:spPr/>
        <p:txBody>
          <a:bodyPr/>
          <a:lstStyle/>
          <a:p>
            <a:r>
              <a:rPr lang="en-IN" dirty="0"/>
              <a:t>Protection from dictionary attack</a:t>
            </a:r>
          </a:p>
        </p:txBody>
      </p:sp>
      <p:graphicFrame>
        <p:nvGraphicFramePr>
          <p:cNvPr id="4" name="Content Placeholder 3">
            <a:extLst>
              <a:ext uri="{FF2B5EF4-FFF2-40B4-BE49-F238E27FC236}">
                <a16:creationId xmlns:a16="http://schemas.microsoft.com/office/drawing/2014/main" id="{2EFDEC0D-9311-D9D2-472D-C6C43FEECA64}"/>
              </a:ext>
            </a:extLst>
          </p:cNvPr>
          <p:cNvGraphicFramePr>
            <a:graphicFrameLocks noGrp="1"/>
          </p:cNvGraphicFramePr>
          <p:nvPr>
            <p:ph idx="1"/>
            <p:extLst>
              <p:ext uri="{D42A27DB-BD31-4B8C-83A1-F6EECF244321}">
                <p14:modId xmlns:p14="http://schemas.microsoft.com/office/powerpoint/2010/main" val="26913046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2145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9AEB2-CABD-2A5C-8BE6-20BAD90A12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276E188-7C23-93CD-B11F-AAAC24BE7E5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078294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800</Words>
  <Application>Microsoft Office PowerPoint</Application>
  <PresentationFormat>Widescreen</PresentationFormat>
  <Paragraphs>49</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Inter</vt:lpstr>
      <vt:lpstr>Nunito</vt:lpstr>
      <vt:lpstr>Office Theme</vt:lpstr>
      <vt:lpstr>Brute Force Attack</vt:lpstr>
      <vt:lpstr>Basics of Brute Force Attacks</vt:lpstr>
      <vt:lpstr>Basics of Brute Force Attacks</vt:lpstr>
      <vt:lpstr>Types of Dictionary Attacks</vt:lpstr>
      <vt:lpstr>Protection from Brute Force Attacks</vt:lpstr>
      <vt:lpstr>Dictionary Attacks</vt:lpstr>
      <vt:lpstr>Dictionary Attacks</vt:lpstr>
      <vt:lpstr>Dictionary Attacks</vt:lpstr>
      <vt:lpstr>Dictionary Attacks</vt:lpstr>
      <vt:lpstr>Protection from dictionary attack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Brute Force Attack</dc:title>
  <dc:creator>Jalaj Limaye</dc:creator>
  <cp:lastModifiedBy>Jalaj Limaye</cp:lastModifiedBy>
  <cp:revision>3</cp:revision>
  <dcterms:created xsi:type="dcterms:W3CDTF">2024-02-21T03:41:31Z</dcterms:created>
  <dcterms:modified xsi:type="dcterms:W3CDTF">2024-02-22T05:24:37Z</dcterms:modified>
</cp:coreProperties>
</file>
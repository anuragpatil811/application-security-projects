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8" r:id="rId3"/>
    <p:sldId id="257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932D3E-CC3F-4BE6-A393-838345A6D5C4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355675EA-EEF3-4CFE-A24B-D5D79D3FB180}">
      <dgm:prSet/>
      <dgm:spPr/>
      <dgm:t>
        <a:bodyPr/>
        <a:lstStyle/>
        <a:p>
          <a:r>
            <a:rPr lang="en-US"/>
            <a:t>A cookie replay attack utilizes cookie files as the means of attack, taking advantage of their storage of user identity details.</a:t>
          </a:r>
          <a:endParaRPr lang="en-IN"/>
        </a:p>
      </dgm:t>
    </dgm:pt>
    <dgm:pt modelId="{00EDEAFC-C14C-46EF-9313-58A7D14B2803}" type="parTrans" cxnId="{9B295BAD-5032-4907-B06B-1DF8D9A9D1C4}">
      <dgm:prSet/>
      <dgm:spPr/>
      <dgm:t>
        <a:bodyPr/>
        <a:lstStyle/>
        <a:p>
          <a:endParaRPr lang="en-IN"/>
        </a:p>
      </dgm:t>
    </dgm:pt>
    <dgm:pt modelId="{DBEE5927-DB80-4A08-AA8C-95EF1674E1BB}" type="sibTrans" cxnId="{9B295BAD-5032-4907-B06B-1DF8D9A9D1C4}">
      <dgm:prSet/>
      <dgm:spPr/>
      <dgm:t>
        <a:bodyPr/>
        <a:lstStyle/>
        <a:p>
          <a:endParaRPr lang="en-IN"/>
        </a:p>
      </dgm:t>
    </dgm:pt>
    <dgm:pt modelId="{8FD074F6-C327-4FA5-8BA7-B6D35BBD0E82}">
      <dgm:prSet/>
      <dgm:spPr/>
      <dgm:t>
        <a:bodyPr/>
        <a:lstStyle/>
        <a:p>
          <a:r>
            <a:rPr lang="en-US"/>
            <a:t>Cookies, small text files created by web servers and stored in browsers, serve various purposes including login persistence and personalized browsing experiences.</a:t>
          </a:r>
          <a:endParaRPr lang="en-IN"/>
        </a:p>
      </dgm:t>
    </dgm:pt>
    <dgm:pt modelId="{D9CEBB19-D443-4749-9532-8E09BEB0EF67}" type="parTrans" cxnId="{3DD05164-5CD5-46D6-B1C6-5A74073DDAE5}">
      <dgm:prSet/>
      <dgm:spPr/>
      <dgm:t>
        <a:bodyPr/>
        <a:lstStyle/>
        <a:p>
          <a:endParaRPr lang="en-IN"/>
        </a:p>
      </dgm:t>
    </dgm:pt>
    <dgm:pt modelId="{9FE77117-C1BC-49A1-BE56-DE975DB57E13}" type="sibTrans" cxnId="{3DD05164-5CD5-46D6-B1C6-5A74073DDAE5}">
      <dgm:prSet/>
      <dgm:spPr/>
      <dgm:t>
        <a:bodyPr/>
        <a:lstStyle/>
        <a:p>
          <a:endParaRPr lang="en-IN"/>
        </a:p>
      </dgm:t>
    </dgm:pt>
    <dgm:pt modelId="{8B8E9399-732B-42A2-B9C8-1CCD9055032C}">
      <dgm:prSet/>
      <dgm:spPr/>
      <dgm:t>
        <a:bodyPr/>
        <a:lstStyle/>
        <a:p>
          <a:r>
            <a:rPr lang="en-US" dirty="0"/>
            <a:t>While cookies cannot execute as programs or transfer viruses, attackers can access and replay them to impersonate users.</a:t>
          </a:r>
          <a:endParaRPr lang="en-IN" dirty="0"/>
        </a:p>
      </dgm:t>
    </dgm:pt>
    <dgm:pt modelId="{7BE65B12-7ED6-452C-B7FF-085C1080D56B}" type="parTrans" cxnId="{23889EE7-4AFB-4721-A32F-8C866D176516}">
      <dgm:prSet/>
      <dgm:spPr/>
      <dgm:t>
        <a:bodyPr/>
        <a:lstStyle/>
        <a:p>
          <a:endParaRPr lang="en-IN"/>
        </a:p>
      </dgm:t>
    </dgm:pt>
    <dgm:pt modelId="{C9E9F783-6F68-4781-B7D2-FCDEA2AD94FB}" type="sibTrans" cxnId="{23889EE7-4AFB-4721-A32F-8C866D176516}">
      <dgm:prSet/>
      <dgm:spPr/>
      <dgm:t>
        <a:bodyPr/>
        <a:lstStyle/>
        <a:p>
          <a:endParaRPr lang="en-IN"/>
        </a:p>
      </dgm:t>
    </dgm:pt>
    <dgm:pt modelId="{BF38E19A-8C11-4E41-8ED7-135C601861B9}">
      <dgm:prSet/>
      <dgm:spPr/>
      <dgm:t>
        <a:bodyPr/>
        <a:lstStyle/>
        <a:p>
          <a:r>
            <a:rPr lang="en-US"/>
            <a:t>This impersonation can lead to misuse of user details, potentially resulting in harm ranging from minor inconveniences to catastrophic consequences.</a:t>
          </a:r>
          <a:endParaRPr lang="en-IN"/>
        </a:p>
      </dgm:t>
    </dgm:pt>
    <dgm:pt modelId="{9ADEC0A2-2558-4BBD-9BC1-EAEC4E9B28FA}" type="parTrans" cxnId="{2546F201-C2D3-4D33-B3F5-C6CFF25008A1}">
      <dgm:prSet/>
      <dgm:spPr/>
      <dgm:t>
        <a:bodyPr/>
        <a:lstStyle/>
        <a:p>
          <a:endParaRPr lang="en-IN"/>
        </a:p>
      </dgm:t>
    </dgm:pt>
    <dgm:pt modelId="{A33CBB23-75E5-4941-B709-47906D495C92}" type="sibTrans" cxnId="{2546F201-C2D3-4D33-B3F5-C6CFF25008A1}">
      <dgm:prSet/>
      <dgm:spPr/>
      <dgm:t>
        <a:bodyPr/>
        <a:lstStyle/>
        <a:p>
          <a:endParaRPr lang="en-IN"/>
        </a:p>
      </dgm:t>
    </dgm:pt>
    <dgm:pt modelId="{773E0A7D-1481-4FF1-BCF3-3D425FDAA939}">
      <dgm:prSet/>
      <dgm:spPr/>
      <dgm:t>
        <a:bodyPr/>
        <a:lstStyle/>
        <a:p>
          <a:r>
            <a:rPr lang="en-US"/>
            <a:t>The severity of the consequences depends on the sensitivity of the data stored in the web application server.</a:t>
          </a:r>
          <a:endParaRPr lang="en-IN"/>
        </a:p>
      </dgm:t>
    </dgm:pt>
    <dgm:pt modelId="{484EF460-4F72-49AB-A1EC-2B92A817E0B2}" type="parTrans" cxnId="{C83FF876-487A-40F2-A431-7A90E606E795}">
      <dgm:prSet/>
      <dgm:spPr/>
      <dgm:t>
        <a:bodyPr/>
        <a:lstStyle/>
        <a:p>
          <a:endParaRPr lang="en-IN"/>
        </a:p>
      </dgm:t>
    </dgm:pt>
    <dgm:pt modelId="{D4FD1E92-B2F5-48FC-9C51-93EAD81B6103}" type="sibTrans" cxnId="{C83FF876-487A-40F2-A431-7A90E606E795}">
      <dgm:prSet/>
      <dgm:spPr/>
      <dgm:t>
        <a:bodyPr/>
        <a:lstStyle/>
        <a:p>
          <a:endParaRPr lang="en-IN"/>
        </a:p>
      </dgm:t>
    </dgm:pt>
    <dgm:pt modelId="{F3C045A8-0D40-48F4-A132-C102D831FC9C}" type="pres">
      <dgm:prSet presAssocID="{6B932D3E-CC3F-4BE6-A393-838345A6D5C4}" presName="diagram" presStyleCnt="0">
        <dgm:presLayoutVars>
          <dgm:dir/>
          <dgm:resizeHandles val="exact"/>
        </dgm:presLayoutVars>
      </dgm:prSet>
      <dgm:spPr/>
    </dgm:pt>
    <dgm:pt modelId="{6D141A19-8BE1-4A33-AA21-8B6230B2A5D2}" type="pres">
      <dgm:prSet presAssocID="{355675EA-EEF3-4CFE-A24B-D5D79D3FB180}" presName="node" presStyleLbl="node1" presStyleIdx="0" presStyleCnt="5">
        <dgm:presLayoutVars>
          <dgm:bulletEnabled val="1"/>
        </dgm:presLayoutVars>
      </dgm:prSet>
      <dgm:spPr/>
    </dgm:pt>
    <dgm:pt modelId="{20812C26-FF68-47C9-B553-79135089C376}" type="pres">
      <dgm:prSet presAssocID="{DBEE5927-DB80-4A08-AA8C-95EF1674E1BB}" presName="sibTrans" presStyleCnt="0"/>
      <dgm:spPr/>
    </dgm:pt>
    <dgm:pt modelId="{B9C7F0F6-8749-415A-9F59-FC9A8241C4C7}" type="pres">
      <dgm:prSet presAssocID="{8FD074F6-C327-4FA5-8BA7-B6D35BBD0E82}" presName="node" presStyleLbl="node1" presStyleIdx="1" presStyleCnt="5">
        <dgm:presLayoutVars>
          <dgm:bulletEnabled val="1"/>
        </dgm:presLayoutVars>
      </dgm:prSet>
      <dgm:spPr/>
    </dgm:pt>
    <dgm:pt modelId="{0DCBF198-2831-4934-B50B-E4D53D81A1D4}" type="pres">
      <dgm:prSet presAssocID="{9FE77117-C1BC-49A1-BE56-DE975DB57E13}" presName="sibTrans" presStyleCnt="0"/>
      <dgm:spPr/>
    </dgm:pt>
    <dgm:pt modelId="{F7EC3156-9521-4DCA-8CA0-61FE45F7A18E}" type="pres">
      <dgm:prSet presAssocID="{8B8E9399-732B-42A2-B9C8-1CCD9055032C}" presName="node" presStyleLbl="node1" presStyleIdx="2" presStyleCnt="5">
        <dgm:presLayoutVars>
          <dgm:bulletEnabled val="1"/>
        </dgm:presLayoutVars>
      </dgm:prSet>
      <dgm:spPr/>
    </dgm:pt>
    <dgm:pt modelId="{BAB8FDDB-9039-442C-8271-D3FC24B95D8B}" type="pres">
      <dgm:prSet presAssocID="{C9E9F783-6F68-4781-B7D2-FCDEA2AD94FB}" presName="sibTrans" presStyleCnt="0"/>
      <dgm:spPr/>
    </dgm:pt>
    <dgm:pt modelId="{7DDCAB49-C1C6-4C87-A62C-179D05320A92}" type="pres">
      <dgm:prSet presAssocID="{BF38E19A-8C11-4E41-8ED7-135C601861B9}" presName="node" presStyleLbl="node1" presStyleIdx="3" presStyleCnt="5">
        <dgm:presLayoutVars>
          <dgm:bulletEnabled val="1"/>
        </dgm:presLayoutVars>
      </dgm:prSet>
      <dgm:spPr/>
    </dgm:pt>
    <dgm:pt modelId="{04E381EE-C181-4B70-B272-8300541DB723}" type="pres">
      <dgm:prSet presAssocID="{A33CBB23-75E5-4941-B709-47906D495C92}" presName="sibTrans" presStyleCnt="0"/>
      <dgm:spPr/>
    </dgm:pt>
    <dgm:pt modelId="{A1F6E5DE-7140-4765-8B8A-AC0F06825198}" type="pres">
      <dgm:prSet presAssocID="{773E0A7D-1481-4FF1-BCF3-3D425FDAA939}" presName="node" presStyleLbl="node1" presStyleIdx="4" presStyleCnt="5">
        <dgm:presLayoutVars>
          <dgm:bulletEnabled val="1"/>
        </dgm:presLayoutVars>
      </dgm:prSet>
      <dgm:spPr/>
    </dgm:pt>
  </dgm:ptLst>
  <dgm:cxnLst>
    <dgm:cxn modelId="{2546F201-C2D3-4D33-B3F5-C6CFF25008A1}" srcId="{6B932D3E-CC3F-4BE6-A393-838345A6D5C4}" destId="{BF38E19A-8C11-4E41-8ED7-135C601861B9}" srcOrd="3" destOrd="0" parTransId="{9ADEC0A2-2558-4BBD-9BC1-EAEC4E9B28FA}" sibTransId="{A33CBB23-75E5-4941-B709-47906D495C92}"/>
    <dgm:cxn modelId="{B479DF10-D5EC-47E5-B40C-55307DF51B0F}" type="presOf" srcId="{773E0A7D-1481-4FF1-BCF3-3D425FDAA939}" destId="{A1F6E5DE-7140-4765-8B8A-AC0F06825198}" srcOrd="0" destOrd="0" presId="urn:microsoft.com/office/officeart/2005/8/layout/default"/>
    <dgm:cxn modelId="{6A054018-1116-47CE-BB12-36E29DFB7C1C}" type="presOf" srcId="{8B8E9399-732B-42A2-B9C8-1CCD9055032C}" destId="{F7EC3156-9521-4DCA-8CA0-61FE45F7A18E}" srcOrd="0" destOrd="0" presId="urn:microsoft.com/office/officeart/2005/8/layout/default"/>
    <dgm:cxn modelId="{3DD05164-5CD5-46D6-B1C6-5A74073DDAE5}" srcId="{6B932D3E-CC3F-4BE6-A393-838345A6D5C4}" destId="{8FD074F6-C327-4FA5-8BA7-B6D35BBD0E82}" srcOrd="1" destOrd="0" parTransId="{D9CEBB19-D443-4749-9532-8E09BEB0EF67}" sibTransId="{9FE77117-C1BC-49A1-BE56-DE975DB57E13}"/>
    <dgm:cxn modelId="{0FB9ED65-0AE8-4FD5-9A2B-FD017888763F}" type="presOf" srcId="{6B932D3E-CC3F-4BE6-A393-838345A6D5C4}" destId="{F3C045A8-0D40-48F4-A132-C102D831FC9C}" srcOrd="0" destOrd="0" presId="urn:microsoft.com/office/officeart/2005/8/layout/default"/>
    <dgm:cxn modelId="{C83FF876-487A-40F2-A431-7A90E606E795}" srcId="{6B932D3E-CC3F-4BE6-A393-838345A6D5C4}" destId="{773E0A7D-1481-4FF1-BCF3-3D425FDAA939}" srcOrd="4" destOrd="0" parTransId="{484EF460-4F72-49AB-A1EC-2B92A817E0B2}" sibTransId="{D4FD1E92-B2F5-48FC-9C51-93EAD81B6103}"/>
    <dgm:cxn modelId="{4FBFBA83-6315-422D-A0CA-6FB706B7DE3E}" type="presOf" srcId="{355675EA-EEF3-4CFE-A24B-D5D79D3FB180}" destId="{6D141A19-8BE1-4A33-AA21-8B6230B2A5D2}" srcOrd="0" destOrd="0" presId="urn:microsoft.com/office/officeart/2005/8/layout/default"/>
    <dgm:cxn modelId="{9B295BAD-5032-4907-B06B-1DF8D9A9D1C4}" srcId="{6B932D3E-CC3F-4BE6-A393-838345A6D5C4}" destId="{355675EA-EEF3-4CFE-A24B-D5D79D3FB180}" srcOrd="0" destOrd="0" parTransId="{00EDEAFC-C14C-46EF-9313-58A7D14B2803}" sibTransId="{DBEE5927-DB80-4A08-AA8C-95EF1674E1BB}"/>
    <dgm:cxn modelId="{76C27BB8-D440-4A75-A1DA-91BBCEE43B31}" type="presOf" srcId="{8FD074F6-C327-4FA5-8BA7-B6D35BBD0E82}" destId="{B9C7F0F6-8749-415A-9F59-FC9A8241C4C7}" srcOrd="0" destOrd="0" presId="urn:microsoft.com/office/officeart/2005/8/layout/default"/>
    <dgm:cxn modelId="{23889EE7-4AFB-4721-A32F-8C866D176516}" srcId="{6B932D3E-CC3F-4BE6-A393-838345A6D5C4}" destId="{8B8E9399-732B-42A2-B9C8-1CCD9055032C}" srcOrd="2" destOrd="0" parTransId="{7BE65B12-7ED6-452C-B7FF-085C1080D56B}" sibTransId="{C9E9F783-6F68-4781-B7D2-FCDEA2AD94FB}"/>
    <dgm:cxn modelId="{257AB1E8-E404-4CE2-ACAB-D15460E2E832}" type="presOf" srcId="{BF38E19A-8C11-4E41-8ED7-135C601861B9}" destId="{7DDCAB49-C1C6-4C87-A62C-179D05320A92}" srcOrd="0" destOrd="0" presId="urn:microsoft.com/office/officeart/2005/8/layout/default"/>
    <dgm:cxn modelId="{AFFDF6F2-870B-4551-9AF6-FB339D51757B}" type="presParOf" srcId="{F3C045A8-0D40-48F4-A132-C102D831FC9C}" destId="{6D141A19-8BE1-4A33-AA21-8B6230B2A5D2}" srcOrd="0" destOrd="0" presId="urn:microsoft.com/office/officeart/2005/8/layout/default"/>
    <dgm:cxn modelId="{DBC609E5-D7EC-471B-BB08-A8676FDCEBC2}" type="presParOf" srcId="{F3C045A8-0D40-48F4-A132-C102D831FC9C}" destId="{20812C26-FF68-47C9-B553-79135089C376}" srcOrd="1" destOrd="0" presId="urn:microsoft.com/office/officeart/2005/8/layout/default"/>
    <dgm:cxn modelId="{19B8C99B-5C86-4BD8-ADBC-9D64CFB5AB49}" type="presParOf" srcId="{F3C045A8-0D40-48F4-A132-C102D831FC9C}" destId="{B9C7F0F6-8749-415A-9F59-FC9A8241C4C7}" srcOrd="2" destOrd="0" presId="urn:microsoft.com/office/officeart/2005/8/layout/default"/>
    <dgm:cxn modelId="{DC533979-FA98-4E02-8E70-0FD65AEEAF10}" type="presParOf" srcId="{F3C045A8-0D40-48F4-A132-C102D831FC9C}" destId="{0DCBF198-2831-4934-B50B-E4D53D81A1D4}" srcOrd="3" destOrd="0" presId="urn:microsoft.com/office/officeart/2005/8/layout/default"/>
    <dgm:cxn modelId="{4C062359-EF2D-48AF-9DAE-111A7C994807}" type="presParOf" srcId="{F3C045A8-0D40-48F4-A132-C102D831FC9C}" destId="{F7EC3156-9521-4DCA-8CA0-61FE45F7A18E}" srcOrd="4" destOrd="0" presId="urn:microsoft.com/office/officeart/2005/8/layout/default"/>
    <dgm:cxn modelId="{DA66BDE8-E57B-4F42-88DA-0BFDE2FE3016}" type="presParOf" srcId="{F3C045A8-0D40-48F4-A132-C102D831FC9C}" destId="{BAB8FDDB-9039-442C-8271-D3FC24B95D8B}" srcOrd="5" destOrd="0" presId="urn:microsoft.com/office/officeart/2005/8/layout/default"/>
    <dgm:cxn modelId="{3E63054B-A3DC-4D02-BED5-5E9CAFCA7C46}" type="presParOf" srcId="{F3C045A8-0D40-48F4-A132-C102D831FC9C}" destId="{7DDCAB49-C1C6-4C87-A62C-179D05320A92}" srcOrd="6" destOrd="0" presId="urn:microsoft.com/office/officeart/2005/8/layout/default"/>
    <dgm:cxn modelId="{C1F38A87-C109-4B58-A05B-B9C04132803C}" type="presParOf" srcId="{F3C045A8-0D40-48F4-A132-C102D831FC9C}" destId="{04E381EE-C181-4B70-B272-8300541DB723}" srcOrd="7" destOrd="0" presId="urn:microsoft.com/office/officeart/2005/8/layout/default"/>
    <dgm:cxn modelId="{DCCBD799-B742-4D99-919F-89FD97209D3A}" type="presParOf" srcId="{F3C045A8-0D40-48F4-A132-C102D831FC9C}" destId="{A1F6E5DE-7140-4765-8B8A-AC0F0682519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141A19-8BE1-4A33-AA21-8B6230B2A5D2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cookie replay attack utilizes cookie files as the means of attack, taking advantage of their storage of user identity details.</a:t>
          </a:r>
          <a:endParaRPr lang="en-IN" sz="1900" kern="1200"/>
        </a:p>
      </dsp:txBody>
      <dsp:txXfrm>
        <a:off x="0" y="39687"/>
        <a:ext cx="3286125" cy="1971675"/>
      </dsp:txXfrm>
    </dsp:sp>
    <dsp:sp modelId="{B9C7F0F6-8749-415A-9F59-FC9A8241C4C7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Cookies, small text files created by web servers and stored in browsers, serve various purposes including login persistence and personalized browsing experiences.</a:t>
          </a:r>
          <a:endParaRPr lang="en-IN" sz="1900" kern="1200"/>
        </a:p>
      </dsp:txBody>
      <dsp:txXfrm>
        <a:off x="3614737" y="39687"/>
        <a:ext cx="3286125" cy="1971675"/>
      </dsp:txXfrm>
    </dsp:sp>
    <dsp:sp modelId="{F7EC3156-9521-4DCA-8CA0-61FE45F7A18E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While cookies cannot execute as programs or transfer viruses, attackers can access and replay them to impersonate users.</a:t>
          </a:r>
          <a:endParaRPr lang="en-IN" sz="1900" kern="1200" dirty="0"/>
        </a:p>
      </dsp:txBody>
      <dsp:txXfrm>
        <a:off x="7229475" y="39687"/>
        <a:ext cx="3286125" cy="1971675"/>
      </dsp:txXfrm>
    </dsp:sp>
    <dsp:sp modelId="{7DDCAB49-C1C6-4C87-A62C-179D05320A92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This impersonation can lead to misuse of user details, potentially resulting in harm ranging from minor inconveniences to catastrophic consequences.</a:t>
          </a:r>
          <a:endParaRPr lang="en-IN" sz="1900" kern="1200"/>
        </a:p>
      </dsp:txBody>
      <dsp:txXfrm>
        <a:off x="1807368" y="2339975"/>
        <a:ext cx="3286125" cy="1971675"/>
      </dsp:txXfrm>
    </dsp:sp>
    <dsp:sp modelId="{A1F6E5DE-7140-4765-8B8A-AC0F06825198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severity of the consequences depends on the sensitivity of the data stored in the web application server.</a:t>
          </a:r>
          <a:endParaRPr lang="en-IN" sz="1900" kern="1200"/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2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0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2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572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2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7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97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39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00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07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2D84A-C5D5-4AAD-AFE0-8AEDD5046075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68AA7-8228-4CE5-BB3F-C8322FEDF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77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C26E-C513-145A-9CC1-D4996925D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Cookie Replay Attack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8DE5C-665D-90B6-2ECA-D46FA7CC5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Jalaj Limaye</a:t>
            </a:r>
          </a:p>
          <a:p>
            <a:r>
              <a:rPr lang="en-IN" dirty="0"/>
              <a:t>Assistant Professor</a:t>
            </a:r>
          </a:p>
          <a:p>
            <a:r>
              <a:rPr lang="en-IN" dirty="0"/>
              <a:t>Vishwakarma University</a:t>
            </a:r>
          </a:p>
        </p:txBody>
      </p:sp>
    </p:spTree>
    <p:extLst>
      <p:ext uri="{BB962C8B-B14F-4D97-AF65-F5344CB8AC3E}">
        <p14:creationId xmlns:p14="http://schemas.microsoft.com/office/powerpoint/2010/main" val="307870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2E33E-381D-ED55-E99F-2319E8E5B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a session</a:t>
            </a:r>
          </a:p>
        </p:txBody>
      </p:sp>
      <p:pic>
        <p:nvPicPr>
          <p:cNvPr id="1028" name="Picture 4" descr="The Ultimate Guide to Session Hijacking aka Cookie Hijacking - Hashed Out  by The SSL Store™">
            <a:extLst>
              <a:ext uri="{FF2B5EF4-FFF2-40B4-BE49-F238E27FC236}">
                <a16:creationId xmlns:a16="http://schemas.microsoft.com/office/drawing/2014/main" id="{E364939C-74DC-46C4-750B-EF0A570778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9275" y="2286794"/>
            <a:ext cx="85534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86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AE2C-B77D-3494-7CD6-5F4DA127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Cookie Replay Attack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4BD0C3-26C3-B37E-3EAE-F6ED9499EC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3265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27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141A19-8BE1-4A33-AA21-8B6230B2A5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9C7F0F6-8749-415A-9F59-FC9A8241C4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EC3156-9521-4DCA-8CA0-61FE45F7A1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DDCAB49-C1C6-4C87-A62C-179D05320A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1F6E5DE-7140-4765-8B8A-AC0F068251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07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DBD8A-6307-9A34-87FC-2A5D3F60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Protection from Cookie replay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4A63-87FC-787E-123E-B272DEAFD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Protect your web application from cookie replay attacks by following security best practices.</a:t>
            </a:r>
          </a:p>
          <a:p>
            <a:r>
              <a:rPr lang="en-US" dirty="0"/>
              <a:t>Never write authentication cookies to client machines to prevent attackers from stealing them.</a:t>
            </a:r>
          </a:p>
          <a:p>
            <a:r>
              <a:rPr lang="en-US" dirty="0"/>
              <a:t>Ensure the application is accessible only via SSL to prevent issuance of cookies over non-SSL connections.</a:t>
            </a:r>
          </a:p>
          <a:p>
            <a:r>
              <a:rPr lang="en-US" dirty="0"/>
              <a:t>Enforce absolute expiration of cookies with a specific timeout, rendering them useless after a set period.</a:t>
            </a:r>
          </a:p>
          <a:p>
            <a:r>
              <a:rPr lang="en-US" dirty="0"/>
              <a:t>Utilize </a:t>
            </a:r>
            <a:r>
              <a:rPr lang="en-US" dirty="0" err="1"/>
              <a:t>HttpOnly</a:t>
            </a:r>
            <a:r>
              <a:rPr lang="en-US" dirty="0"/>
              <a:t> cookies to prevent interception or alteration by unauthorized parties.</a:t>
            </a:r>
          </a:p>
        </p:txBody>
      </p:sp>
    </p:spTree>
    <p:extLst>
      <p:ext uri="{BB962C8B-B14F-4D97-AF65-F5344CB8AC3E}">
        <p14:creationId xmlns:p14="http://schemas.microsoft.com/office/powerpoint/2010/main" val="1035563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420A-9463-DAF8-3A62-23D19FC7E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42B1-3FE8-BC5B-00DB-207E8E66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Protection from Cookie replay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63917-D822-8085-DF21-31F9A4D2A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 if precautions are breached, attackers have only a short window to successfully exploit vulnerabilities and log in.</a:t>
            </a:r>
          </a:p>
          <a:p>
            <a:r>
              <a:rPr lang="en-US" dirty="0"/>
              <a:t>The systematic protection and mitigation method for cookie replay attack in ASP.NET are as follows:</a:t>
            </a:r>
          </a:p>
          <a:p>
            <a:pPr lvl="1"/>
            <a:r>
              <a:rPr lang="en-US" dirty="0"/>
              <a:t>Help protect the application by using Secure Socket Layer (SSL)</a:t>
            </a:r>
          </a:p>
          <a:p>
            <a:pPr lvl="1"/>
            <a:r>
              <a:rPr lang="en-US" dirty="0"/>
              <a:t>Enforce Time to Live (TTL) and absolute expiration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HttpOnly</a:t>
            </a:r>
            <a:r>
              <a:rPr lang="en-US" dirty="0"/>
              <a:t> cookies and forms authentication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20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6F3CCC-48F8-0E02-8490-97B7CDE4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Credential Theft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34B5A-356E-9E7C-DAB3-299812504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89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10B971-931C-2CBF-DEEA-18F408BD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Credential Theft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48D856-999D-122A-1343-81F5B8990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Credentials are evidence of rights, abilities, or requirements issued to users by organizations or authorities, attesting to specific facts.</a:t>
            </a:r>
          </a:p>
          <a:p>
            <a:r>
              <a:rPr lang="en-US" dirty="0"/>
              <a:t>Examples include academic diplomas, certificates, identification documents, usernames, and passwords.</a:t>
            </a:r>
          </a:p>
          <a:p>
            <a:r>
              <a:rPr lang="en-US" dirty="0"/>
              <a:t>Credential theft occurs when attackers steal private data like passwords or personal security question answers to impersonate individuals.</a:t>
            </a:r>
          </a:p>
          <a:p>
            <a:r>
              <a:rPr lang="en-US" dirty="0"/>
              <a:t>This stolen information can be used to access secured web applications authorized by the organization.</a:t>
            </a:r>
          </a:p>
          <a:p>
            <a:r>
              <a:rPr lang="en-US" dirty="0"/>
              <a:t>Credential theft poses a significant threat to web application security and should be addressed from the beginning of the development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620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Credential Stuffing Attack Definition &amp; Prevention ️">
            <a:extLst>
              <a:ext uri="{FF2B5EF4-FFF2-40B4-BE49-F238E27FC236}">
                <a16:creationId xmlns:a16="http://schemas.microsoft.com/office/drawing/2014/main" id="{29AD128F-4D80-2C8B-6F12-7FE738D5B5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35" y="1263920"/>
            <a:ext cx="10158730" cy="4330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63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E38E-7639-D9E5-1C14-8E731A65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Protection from Credential Theft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BAF50-A399-9B2B-C375-5D064F30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Mitigate credential theft by utilizing hardware root of trust combined with defense in depth strategies.</a:t>
            </a:r>
          </a:p>
          <a:p>
            <a:r>
              <a:rPr lang="en-US" dirty="0"/>
              <a:t>Effective credential protection was previously limited to advanced government research.</a:t>
            </a:r>
          </a:p>
          <a:p>
            <a:r>
              <a:rPr lang="en-US" dirty="0"/>
              <a:t>Users should refrain from writing down personal identity security information in any form, digital or paper-based.</a:t>
            </a:r>
          </a:p>
          <a:p>
            <a:r>
              <a:rPr lang="en-US" dirty="0"/>
              <a:t>Avoid providing personal information over phone or email unless initiated by the user contacting the concerned department for support.</a:t>
            </a:r>
          </a:p>
          <a:p>
            <a:r>
              <a:rPr lang="en-US" dirty="0"/>
              <a:t>Analyze and consider the sensitivity of information shared on social media, deleting any sensitive data to prevent identity theft and fraud.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850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B8A712-5A8E-D16E-B65F-A17E6F25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Elevation of </a:t>
            </a:r>
            <a:r>
              <a:rPr lang="en-IN" dirty="0" err="1"/>
              <a:t>Privelege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04AC8-07DE-3B7B-C660-C161414E8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940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243CBE-7092-7B8D-B767-FCEE00DB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Elevation of </a:t>
            </a:r>
            <a:r>
              <a:rPr lang="en-IN" dirty="0" err="1"/>
              <a:t>privelege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3F8901-7B43-2A9F-515E-86619E404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Elevation of privilege occurs when an attacker gains authorization permissions beyond those originally granted.</a:t>
            </a:r>
          </a:p>
          <a:p>
            <a:r>
              <a:rPr lang="en-US" dirty="0"/>
              <a:t>This may involve elevating from "read-only" to "read and write" permissions or gaining administrative rights.</a:t>
            </a:r>
          </a:p>
          <a:p>
            <a:r>
              <a:rPr lang="en-US" dirty="0"/>
              <a:t>Common causes include running web server processes as root/administrator, coding errors leading to buffer overflows, and elevating applications into a debug state.</a:t>
            </a:r>
          </a:p>
          <a:p>
            <a:r>
              <a:rPr lang="en-US" dirty="0"/>
              <a:t>Preventive measures include using the fewest-privileges context possible, employing type-safe languages, and utilizing compiler options to prevent or control buffer overflows.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76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563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Cookie Replay Attack</vt:lpstr>
      <vt:lpstr>Working of a session</vt:lpstr>
      <vt:lpstr>Basics of Cookie Replay Attack</vt:lpstr>
      <vt:lpstr>PowerPoint Presentation</vt:lpstr>
      <vt:lpstr>Protection from Cookie replay attack</vt:lpstr>
      <vt:lpstr>Protection from Cookie replay attack</vt:lpstr>
      <vt:lpstr>Credential Theft</vt:lpstr>
      <vt:lpstr>Basics of Credential Theft</vt:lpstr>
      <vt:lpstr>PowerPoint Presentation</vt:lpstr>
      <vt:lpstr>Protection from Credential Theft</vt:lpstr>
      <vt:lpstr>Elevation of Privelege</vt:lpstr>
      <vt:lpstr>Elevation of privelege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Cookie Replay Attack</dc:title>
  <dc:creator>Jalaj Limaye</dc:creator>
  <cp:lastModifiedBy>Jalaj Limaye</cp:lastModifiedBy>
  <cp:revision>2</cp:revision>
  <dcterms:created xsi:type="dcterms:W3CDTF">2024-02-26T02:56:35Z</dcterms:created>
  <dcterms:modified xsi:type="dcterms:W3CDTF">2024-02-26T05:22:58Z</dcterms:modified>
</cp:coreProperties>
</file>
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6E61-167B-BA5A-D50C-D9E8295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0C25C-FD81-CFF5-8637-805463C13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26F1-ADC0-DF1D-4D60-5B2550C1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117A-5257-3182-DD64-2F4946E3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6CCA7-FB15-C1DD-A512-540BDBF1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56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7D12-540C-9F0E-6069-F2EEEAE7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1FE28-27B1-74CB-C46D-8D36A4A4E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85D34-2103-792C-0667-2E1F2477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B3103-4013-A93F-8CBD-0C5F9339B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F7198-65C3-0C68-0683-CF4DD955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77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AF71-E522-3E3C-EADB-A370F588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DA22F-059F-9346-26A4-0843945BA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61EC5-C4BE-19A5-2B31-C0E407EB5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EACC9-AFCE-89E5-3644-B91FD9AF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B84B0-4FDD-6BA7-9269-88F99C51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47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4385-AB5C-B094-FDC1-4467670D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395D3-5B91-A22F-D644-70F893944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F13E9-73E1-6797-BF60-D82B85BD9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9EF9A-6D23-1D52-8680-F1D546AD2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2B128-98D8-A715-2050-D8E1E484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0079D-6DB7-8B1A-59CF-1B8F5126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38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7A8E-A228-5501-F0B7-9DA21D020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724AC-85DA-3909-1E82-CD41A8690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008A6-8C22-2F43-E4ED-AFA9522DF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3D4C0-57A5-5C86-491C-93CEE5401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69261-E4EA-7C91-58A1-E22162D6C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EE8CB5-B088-BCFC-0EB7-8B9B476F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E3D2B4-9B75-4CE8-5131-CECEA327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40FDB-3265-D578-8EF6-FDC7ED89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89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BABA-FB8C-4219-974B-B389132A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D033F2-6809-2171-BE53-35FF4A10A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44397-1B42-1871-7BEA-3D94505E4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72FCD-D4F2-91C2-0E3F-726783E8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06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CB160-B00E-4C32-0963-08D0D8DD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000CB-C6AE-054A-F06E-19FD7B53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E3E5E-D53E-0B40-9BDA-B2EC5673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488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25E5-927B-6C04-7586-1D0281219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2FD9-E6BD-EB6F-C0FD-7D499504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D178A-FEE2-CF85-DE5B-4969DC0E7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18054-4214-D8BC-A7C7-C91103623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288D3-015A-EC53-FE20-A2BDA4B7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A810F-D87A-8C56-C8B4-A9C09CFC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09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1C7BB-5D72-689B-E073-A2712FD4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3AC47B-C9A3-11B1-C42C-A2FBB82A0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3EBB2-7E99-D2F8-F95A-4280BAD56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09772-17DB-68CA-E5CC-060AD6A1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6F8B7-17AA-FB17-6430-F2C97AD6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6D397-3F5A-6C59-6DED-A5EDC757D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34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A1BF-B6A6-C9DA-651C-7A2F4BBFE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31E66-9AC1-0E80-F426-8978062AA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9011C-55AA-7C9E-EAF4-77F36C41C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E0D43-0A08-5592-E69D-1B6083B9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EA439-6BF4-174D-F1C5-52A0FA39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60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AB4CA-C29D-AD2E-B2A2-81F18CF07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883E8-179A-87BD-6EBB-78157EEB0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B5B0D-86D0-06D9-AA26-1F591522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58CE7-840C-1EC1-2322-062D9C1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AC7FC-EBB4-7E89-F621-AF2487D7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68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C04B2-18D1-AA55-F1A1-C6648467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E591F-BD0A-5E48-F85E-016026F3C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2CB59-8043-293F-C2CB-C677D30AD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9EF71-192C-475E-9D88-B2C04966B5F7}" type="datetimeFigureOut">
              <a:rPr lang="en-IN" smtClean="0"/>
              <a:t>26-02-2024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3DD6-E482-BBCA-B3F8-DF4B6A92A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F325D-A4F8-B8EF-41DA-FB46D6A23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AE03F-3D6A-48A1-B1F5-2D39CD83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24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1343-90BD-BA01-5E0C-982C68EFDB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Authorization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20EA2-1F7F-C2E4-D77C-9E88E0346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Jalaj Limaye</a:t>
            </a:r>
          </a:p>
          <a:p>
            <a:r>
              <a:rPr lang="en-IN" dirty="0"/>
              <a:t>Assistant Professor</a:t>
            </a:r>
          </a:p>
          <a:p>
            <a:r>
              <a:rPr lang="en-IN" dirty="0"/>
              <a:t>Vishwakarma University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0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7513D-98BB-74AB-0F40-E8723F0E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 of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0A37-C4AE-1091-E319-AC4E9314E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Authorization involves specifying all IDs and resources that each entity can access, identifying privileged resources and operations, defining separate privileges for different roles, and identifying code-access security requirements.</a:t>
            </a:r>
          </a:p>
          <a:p>
            <a:r>
              <a:rPr lang="en-US" dirty="0"/>
              <a:t>Countermeasures include restricting database logins to access-specific stored procedures, prohibiting direct access to tables, and limiting access to system-level resources.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594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BBA3-4752-3067-A749-C6A2F3E5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Disclosure of confidential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08E33-7DEE-D67B-F22D-D7AC64DB6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Confidential information may be disclosed when discussing business proposals with clients, using employees to carry out work, engaging third party contractors and communicating business information to suppliers. </a:t>
            </a:r>
          </a:p>
          <a:p>
            <a:r>
              <a:rPr lang="en-US" dirty="0"/>
              <a:t>This disclosure may take place face-to-face, over the telephone, by fax, by email or over the internet. </a:t>
            </a:r>
          </a:p>
          <a:p>
            <a:r>
              <a:rPr lang="en-US" dirty="0"/>
              <a:t>Again, you should consider the method of disclosure and assess what measures you can take to ensure the information remains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427436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7C55D-F702-9A40-F3E5-A2C1D0B7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8E9C-E592-8088-A8F8-06CB56E4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Disclosure of confidential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77F73-13C1-19B0-1A32-DB4FE1909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One </a:t>
            </a:r>
            <a:r>
              <a:rPr lang="en-US" dirty="0"/>
              <a:t>way of maintaining the secrecy of information is by imposing specific confidentiality obligations on its intended recipients.</a:t>
            </a:r>
          </a:p>
          <a:p>
            <a:r>
              <a:rPr lang="en-US" dirty="0"/>
              <a:t>These obligations can be set out in confidentiality letters/agreements and notices (on documents, faxes, emails, etc.). </a:t>
            </a:r>
          </a:p>
          <a:p>
            <a:r>
              <a:rPr lang="en-US" dirty="0"/>
              <a:t>It is crucial that you impose these obligations before disclosing the confidential 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AC0A-2513-0476-32A8-527C50FC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disclosure of confidential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5E9EE-C5DE-1748-8429-5CCDB546C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a corporate scenario, a legal due diligence review of a target company involves disclosing confidential information about the target company and its business relations to the purchaser.</a:t>
            </a:r>
          </a:p>
          <a:p>
            <a:r>
              <a:rPr lang="en-US" dirty="0"/>
              <a:t>To protect the interests of both parties, the seller and purchaser typically enter into a non-disclosure agreement (NDA).</a:t>
            </a:r>
          </a:p>
          <a:p>
            <a:r>
              <a:rPr lang="en-US" dirty="0"/>
              <a:t>During the review process, various individuals have access to highly sensitive corporate data, which could violate confidentiality obligations under law or contract.</a:t>
            </a:r>
          </a:p>
          <a:p>
            <a:r>
              <a:rPr lang="en-US" dirty="0"/>
              <a:t>These obligations may stem from contracts between the target company and suppliers or clients.</a:t>
            </a:r>
          </a:p>
          <a:p>
            <a:r>
              <a:rPr lang="en-US" dirty="0"/>
              <a:t>Managing the disclosure of confidential information during a due diligence review depends on the transaction structure, balancing the purchaser's need for information with the seller's confidentiality obligations.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98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64AA-9296-8410-435B-132ECE452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conclusion of a Non-Disclosure Agreement (NDA)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A80D5-5CB3-A6BE-DB96-961AF7552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At the outset of a transaction, parties typically sign a Non-Disclosure Agreement (NDA) to allow the target company's management to disclose confidential information without breaching confidentiality obligations.</a:t>
            </a:r>
          </a:p>
          <a:p>
            <a:r>
              <a:rPr lang="en-US" dirty="0"/>
              <a:t>The NDA should identify the disclosing party and recipients of information, prohibit the use of findings for personal or third-party purposes, and include a non-solicitation clause for staff, clients, and suppliers.</a:t>
            </a:r>
          </a:p>
          <a:p>
            <a:r>
              <a:rPr lang="en-US" dirty="0"/>
              <a:t>Contract penalties should secure obligations under the NDA, and the transferor of confidential information should have control over the inspection procedure for relevant documents.</a:t>
            </a:r>
          </a:p>
          <a:p>
            <a:r>
              <a:rPr lang="en-US" dirty="0"/>
              <a:t>This control can involve assigning different access rights to specific documents in the data room, such as restrictions on saving or printing, or limiting viewing to screen only.</a:t>
            </a:r>
          </a:p>
        </p:txBody>
      </p:sp>
    </p:spTree>
    <p:extLst>
      <p:ext uri="{BB962C8B-B14F-4D97-AF65-F5344CB8AC3E}">
        <p14:creationId xmlns:p14="http://schemas.microsoft.com/office/powerpoint/2010/main" val="36816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0AFE-7C5C-8958-AD1D-D6B77F3A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anonymised contract summaries: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B38B2-BE10-8533-CD29-2F14812D7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highest level of protection for confidential information, with minimal risk of confidentiality breaches, is achieved through the establishment of a "black box" data room.</a:t>
            </a:r>
          </a:p>
          <a:p>
            <a:r>
              <a:rPr lang="en-US" dirty="0"/>
              <a:t>In a black box data room, confidential information about the target company is securely placed, and access is restricted to advisors of potential purchasers bound by professional confidentiality obligations.</a:t>
            </a:r>
          </a:p>
          <a:p>
            <a:r>
              <a:rPr lang="en-US" dirty="0"/>
              <a:t>Advisors can view the information but are only permitted to disclose specific results to the potential purchaser.</a:t>
            </a:r>
          </a:p>
          <a:p>
            <a:r>
              <a:rPr lang="en-US" dirty="0"/>
              <a:t>Black box data rooms are particularly suitable for controlled or open bidding processes, where multiple potential purchasers require access to confidential information about the target company.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669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8D04-F998-1148-6CF3-53AC0141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black box data room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05016-54DA-F562-24B4-E5CDB654A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address the complex issues arising from the disclosure of confidential information in M&amp;A transactions, it is recommended to engage a legal advisor at the earliest stage possible.</a:t>
            </a:r>
          </a:p>
          <a:p>
            <a:r>
              <a:rPr lang="en-US" dirty="0"/>
              <a:t>Early involvement of a legal advisor enables parties to implement necessary measures to protect the target company's management.</a:t>
            </a:r>
          </a:p>
          <a:p>
            <a:r>
              <a:rPr lang="en-US" dirty="0"/>
              <a:t>This may include obtaining approvals such as board resolutions or shareholders' resolutions regarding the disclosure of sensitive information to potential purchasers.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42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DB4C-9C20-C5F8-64F9-56D81C31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timely involvement of legal advisors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62A54-19E9-4684-31B7-7C8373CCC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involvement of a legal advisor is crucial to identify and address the complex issues stemming from the disclosure of confidential information in M&amp;A transactions.</a:t>
            </a:r>
          </a:p>
          <a:p>
            <a:r>
              <a:rPr lang="en-US" dirty="0"/>
              <a:t>Involving a legal advisor at the outset provides parties with ample time to enact necessary measures to safeguard the target company's management.</a:t>
            </a:r>
          </a:p>
          <a:p>
            <a:r>
              <a:rPr lang="en-US" dirty="0"/>
              <a:t>These measures may include obtaining approvals such as board resolutions or shareholders' resolutions regarding the disclosure of sensitive information to potential purchasers.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47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3399-47B0-53E2-4ED9-8F6F9AE40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21EC1-249F-445D-6D16-0795F1D2D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80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737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Authorization</vt:lpstr>
      <vt:lpstr>Basics of Authorization</vt:lpstr>
      <vt:lpstr>Disclosure of confidential data</vt:lpstr>
      <vt:lpstr>Disclosure of confidential data</vt:lpstr>
      <vt:lpstr>Example of disclosure of confidential data</vt:lpstr>
      <vt:lpstr>The conclusion of a Non-Disclosure Agreement (NDA)</vt:lpstr>
      <vt:lpstr>Creating anonymised contract summaries:</vt:lpstr>
      <vt:lpstr>Setting up a black box data room</vt:lpstr>
      <vt:lpstr>The timely involvement of legal advisors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Authorization</dc:title>
  <dc:creator>Jalaj Limaye</dc:creator>
  <cp:lastModifiedBy>Jalaj Limaye</cp:lastModifiedBy>
  <cp:revision>2</cp:revision>
  <dcterms:created xsi:type="dcterms:W3CDTF">2024-02-26T05:32:05Z</dcterms:created>
  <dcterms:modified xsi:type="dcterms:W3CDTF">2024-02-26T10:07:24Z</dcterms:modified>
</cp:coreProperties>
</file>